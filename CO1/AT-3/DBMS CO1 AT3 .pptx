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85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ati Shashank" userId="a1f62d006b20c551" providerId="LiveId" clId="{F5B21C15-9B9E-45B4-A540-258D444FEDE3}"/>
    <pc:docChg chg="undo custSel addSld delSld modSld sldOrd">
      <pc:chgData name="Panati Shashank" userId="a1f62d006b20c551" providerId="LiveId" clId="{F5B21C15-9B9E-45B4-A540-258D444FEDE3}" dt="2026-07-23T05:42:18.746" v="150"/>
      <pc:docMkLst>
        <pc:docMk/>
      </pc:docMkLst>
      <pc:sldChg chg="ord">
        <pc:chgData name="Panati Shashank" userId="a1f62d006b20c551" providerId="LiveId" clId="{F5B21C15-9B9E-45B4-A540-258D444FEDE3}" dt="2026-07-23T05:42:18.746" v="150"/>
        <pc:sldMkLst>
          <pc:docMk/>
          <pc:sldMk cId="712320257" sldId="256"/>
        </pc:sldMkLst>
      </pc:sldChg>
      <pc:sldChg chg="del">
        <pc:chgData name="Panati Shashank" userId="a1f62d006b20c551" providerId="LiveId" clId="{F5B21C15-9B9E-45B4-A540-258D444FEDE3}" dt="2026-07-23T05:21:21.642" v="54" actId="47"/>
        <pc:sldMkLst>
          <pc:docMk/>
          <pc:sldMk cId="3979707223" sldId="258"/>
        </pc:sldMkLst>
      </pc:sldChg>
      <pc:sldChg chg="add del">
        <pc:chgData name="Panati Shashank" userId="a1f62d006b20c551" providerId="LiveId" clId="{F5B21C15-9B9E-45B4-A540-258D444FEDE3}" dt="2026-07-23T05:21:26.265" v="94" actId="47"/>
        <pc:sldMkLst>
          <pc:docMk/>
          <pc:sldMk cId="1739562562" sldId="259"/>
        </pc:sldMkLst>
      </pc:sldChg>
      <pc:sldChg chg="add del">
        <pc:chgData name="Panati Shashank" userId="a1f62d006b20c551" providerId="LiveId" clId="{F5B21C15-9B9E-45B4-A540-258D444FEDE3}" dt="2026-07-23T05:21:26.231" v="93" actId="47"/>
        <pc:sldMkLst>
          <pc:docMk/>
          <pc:sldMk cId="1941677515" sldId="260"/>
        </pc:sldMkLst>
      </pc:sldChg>
      <pc:sldChg chg="add del">
        <pc:chgData name="Panati Shashank" userId="a1f62d006b20c551" providerId="LiveId" clId="{F5B21C15-9B9E-45B4-A540-258D444FEDE3}" dt="2026-07-23T05:21:26.199" v="92" actId="47"/>
        <pc:sldMkLst>
          <pc:docMk/>
          <pc:sldMk cId="68180893" sldId="261"/>
        </pc:sldMkLst>
      </pc:sldChg>
      <pc:sldChg chg="add del">
        <pc:chgData name="Panati Shashank" userId="a1f62d006b20c551" providerId="LiveId" clId="{F5B21C15-9B9E-45B4-A540-258D444FEDE3}" dt="2026-07-23T05:21:26.165" v="91" actId="47"/>
        <pc:sldMkLst>
          <pc:docMk/>
          <pc:sldMk cId="1355342654" sldId="262"/>
        </pc:sldMkLst>
      </pc:sldChg>
      <pc:sldChg chg="add del">
        <pc:chgData name="Panati Shashank" userId="a1f62d006b20c551" providerId="LiveId" clId="{F5B21C15-9B9E-45B4-A540-258D444FEDE3}" dt="2026-07-23T05:21:26.142" v="90" actId="47"/>
        <pc:sldMkLst>
          <pc:docMk/>
          <pc:sldMk cId="3509715855" sldId="263"/>
        </pc:sldMkLst>
      </pc:sldChg>
      <pc:sldChg chg="add del">
        <pc:chgData name="Panati Shashank" userId="a1f62d006b20c551" providerId="LiveId" clId="{F5B21C15-9B9E-45B4-A540-258D444FEDE3}" dt="2026-07-23T05:21:26.104" v="89" actId="47"/>
        <pc:sldMkLst>
          <pc:docMk/>
          <pc:sldMk cId="3460559974" sldId="264"/>
        </pc:sldMkLst>
      </pc:sldChg>
      <pc:sldChg chg="add del">
        <pc:chgData name="Panati Shashank" userId="a1f62d006b20c551" providerId="LiveId" clId="{F5B21C15-9B9E-45B4-A540-258D444FEDE3}" dt="2026-07-23T05:21:26.074" v="88" actId="47"/>
        <pc:sldMkLst>
          <pc:docMk/>
          <pc:sldMk cId="3952621935" sldId="265"/>
        </pc:sldMkLst>
      </pc:sldChg>
      <pc:sldChg chg="add del">
        <pc:chgData name="Panati Shashank" userId="a1f62d006b20c551" providerId="LiveId" clId="{F5B21C15-9B9E-45B4-A540-258D444FEDE3}" dt="2026-07-23T05:21:26.044" v="87" actId="47"/>
        <pc:sldMkLst>
          <pc:docMk/>
          <pc:sldMk cId="2749284752" sldId="266"/>
        </pc:sldMkLst>
      </pc:sldChg>
      <pc:sldChg chg="add del">
        <pc:chgData name="Panati Shashank" userId="a1f62d006b20c551" providerId="LiveId" clId="{F5B21C15-9B9E-45B4-A540-258D444FEDE3}" dt="2026-07-23T05:21:26.014" v="86" actId="47"/>
        <pc:sldMkLst>
          <pc:docMk/>
          <pc:sldMk cId="1569814082" sldId="267"/>
        </pc:sldMkLst>
      </pc:sldChg>
      <pc:sldChg chg="add del">
        <pc:chgData name="Panati Shashank" userId="a1f62d006b20c551" providerId="LiveId" clId="{F5B21C15-9B9E-45B4-A540-258D444FEDE3}" dt="2026-07-23T05:21:25.987" v="85" actId="47"/>
        <pc:sldMkLst>
          <pc:docMk/>
          <pc:sldMk cId="2079101244" sldId="268"/>
        </pc:sldMkLst>
      </pc:sldChg>
      <pc:sldChg chg="add del">
        <pc:chgData name="Panati Shashank" userId="a1f62d006b20c551" providerId="LiveId" clId="{F5B21C15-9B9E-45B4-A540-258D444FEDE3}" dt="2026-07-23T05:21:25.959" v="84" actId="47"/>
        <pc:sldMkLst>
          <pc:docMk/>
          <pc:sldMk cId="918778124" sldId="269"/>
        </pc:sldMkLst>
      </pc:sldChg>
      <pc:sldChg chg="add del">
        <pc:chgData name="Panati Shashank" userId="a1f62d006b20c551" providerId="LiveId" clId="{F5B21C15-9B9E-45B4-A540-258D444FEDE3}" dt="2026-07-23T05:21:25.925" v="83" actId="47"/>
        <pc:sldMkLst>
          <pc:docMk/>
          <pc:sldMk cId="2923718908" sldId="270"/>
        </pc:sldMkLst>
      </pc:sldChg>
      <pc:sldChg chg="add del">
        <pc:chgData name="Panati Shashank" userId="a1f62d006b20c551" providerId="LiveId" clId="{F5B21C15-9B9E-45B4-A540-258D444FEDE3}" dt="2026-07-23T05:21:25.889" v="82" actId="47"/>
        <pc:sldMkLst>
          <pc:docMk/>
          <pc:sldMk cId="1327640431" sldId="271"/>
        </pc:sldMkLst>
      </pc:sldChg>
      <pc:sldChg chg="add del">
        <pc:chgData name="Panati Shashank" userId="a1f62d006b20c551" providerId="LiveId" clId="{F5B21C15-9B9E-45B4-A540-258D444FEDE3}" dt="2026-07-23T05:21:25.863" v="81" actId="47"/>
        <pc:sldMkLst>
          <pc:docMk/>
          <pc:sldMk cId="4123431968" sldId="272"/>
        </pc:sldMkLst>
      </pc:sldChg>
      <pc:sldChg chg="add del">
        <pc:chgData name="Panati Shashank" userId="a1f62d006b20c551" providerId="LiveId" clId="{F5B21C15-9B9E-45B4-A540-258D444FEDE3}" dt="2026-07-23T05:21:25.830" v="80" actId="47"/>
        <pc:sldMkLst>
          <pc:docMk/>
          <pc:sldMk cId="1191153237" sldId="273"/>
        </pc:sldMkLst>
      </pc:sldChg>
      <pc:sldChg chg="add del">
        <pc:chgData name="Panati Shashank" userId="a1f62d006b20c551" providerId="LiveId" clId="{F5B21C15-9B9E-45B4-A540-258D444FEDE3}" dt="2026-07-23T05:21:25.801" v="79" actId="47"/>
        <pc:sldMkLst>
          <pc:docMk/>
          <pc:sldMk cId="160080304" sldId="274"/>
        </pc:sldMkLst>
      </pc:sldChg>
      <pc:sldChg chg="add del">
        <pc:chgData name="Panati Shashank" userId="a1f62d006b20c551" providerId="LiveId" clId="{F5B21C15-9B9E-45B4-A540-258D444FEDE3}" dt="2026-07-23T05:21:25.786" v="78" actId="47"/>
        <pc:sldMkLst>
          <pc:docMk/>
          <pc:sldMk cId="2788493564" sldId="275"/>
        </pc:sldMkLst>
      </pc:sldChg>
      <pc:sldChg chg="add del">
        <pc:chgData name="Panati Shashank" userId="a1f62d006b20c551" providerId="LiveId" clId="{F5B21C15-9B9E-45B4-A540-258D444FEDE3}" dt="2026-07-23T05:21:25.744" v="77" actId="47"/>
        <pc:sldMkLst>
          <pc:docMk/>
          <pc:sldMk cId="1789252025" sldId="276"/>
        </pc:sldMkLst>
      </pc:sldChg>
      <pc:sldChg chg="add del">
        <pc:chgData name="Panati Shashank" userId="a1f62d006b20c551" providerId="LiveId" clId="{F5B21C15-9B9E-45B4-A540-258D444FEDE3}" dt="2026-07-23T05:21:25.712" v="76" actId="47"/>
        <pc:sldMkLst>
          <pc:docMk/>
          <pc:sldMk cId="2854295352" sldId="277"/>
        </pc:sldMkLst>
      </pc:sldChg>
      <pc:sldChg chg="add del">
        <pc:chgData name="Panati Shashank" userId="a1f62d006b20c551" providerId="LiveId" clId="{F5B21C15-9B9E-45B4-A540-258D444FEDE3}" dt="2026-07-23T05:21:25.233" v="75" actId="47"/>
        <pc:sldMkLst>
          <pc:docMk/>
          <pc:sldMk cId="3969148358" sldId="278"/>
        </pc:sldMkLst>
      </pc:sldChg>
      <pc:sldChg chg="new del">
        <pc:chgData name="Panati Shashank" userId="a1f62d006b20c551" providerId="LiveId" clId="{F5B21C15-9B9E-45B4-A540-258D444FEDE3}" dt="2026-07-23T05:31:20.417" v="95" actId="47"/>
        <pc:sldMkLst>
          <pc:docMk/>
          <pc:sldMk cId="673568196" sldId="286"/>
        </pc:sldMkLst>
      </pc:sldChg>
      <pc:sldChg chg="new del">
        <pc:chgData name="Panati Shashank" userId="a1f62d006b20c551" providerId="LiveId" clId="{F5B21C15-9B9E-45B4-A540-258D444FEDE3}" dt="2026-07-23T05:31:21.397" v="96" actId="47"/>
        <pc:sldMkLst>
          <pc:docMk/>
          <pc:sldMk cId="433939655" sldId="287"/>
        </pc:sldMkLst>
      </pc:sldChg>
      <pc:sldChg chg="new del">
        <pc:chgData name="Panati Shashank" userId="a1f62d006b20c551" providerId="LiveId" clId="{F5B21C15-9B9E-45B4-A540-258D444FEDE3}" dt="2026-07-23T05:31:21.876" v="97" actId="47"/>
        <pc:sldMkLst>
          <pc:docMk/>
          <pc:sldMk cId="3358285515" sldId="288"/>
        </pc:sldMkLst>
      </pc:sldChg>
      <pc:sldChg chg="new del">
        <pc:chgData name="Panati Shashank" userId="a1f62d006b20c551" providerId="LiveId" clId="{F5B21C15-9B9E-45B4-A540-258D444FEDE3}" dt="2026-07-23T05:31:22.285" v="98" actId="47"/>
        <pc:sldMkLst>
          <pc:docMk/>
          <pc:sldMk cId="3416996427" sldId="289"/>
        </pc:sldMkLst>
      </pc:sldChg>
      <pc:sldChg chg="new del">
        <pc:chgData name="Panati Shashank" userId="a1f62d006b20c551" providerId="LiveId" clId="{F5B21C15-9B9E-45B4-A540-258D444FEDE3}" dt="2026-07-23T05:31:22.618" v="99" actId="47"/>
        <pc:sldMkLst>
          <pc:docMk/>
          <pc:sldMk cId="46479760" sldId="290"/>
        </pc:sldMkLst>
      </pc:sldChg>
      <pc:sldChg chg="new del">
        <pc:chgData name="Panati Shashank" userId="a1f62d006b20c551" providerId="LiveId" clId="{F5B21C15-9B9E-45B4-A540-258D444FEDE3}" dt="2026-07-23T05:31:22.941" v="100" actId="47"/>
        <pc:sldMkLst>
          <pc:docMk/>
          <pc:sldMk cId="4249837841" sldId="291"/>
        </pc:sldMkLst>
      </pc:sldChg>
      <pc:sldChg chg="new del">
        <pc:chgData name="Panati Shashank" userId="a1f62d006b20c551" providerId="LiveId" clId="{F5B21C15-9B9E-45B4-A540-258D444FEDE3}" dt="2026-07-23T05:31:23.156" v="101" actId="47"/>
        <pc:sldMkLst>
          <pc:docMk/>
          <pc:sldMk cId="3513453471" sldId="292"/>
        </pc:sldMkLst>
      </pc:sldChg>
      <pc:sldChg chg="new del">
        <pc:chgData name="Panati Shashank" userId="a1f62d006b20c551" providerId="LiveId" clId="{F5B21C15-9B9E-45B4-A540-258D444FEDE3}" dt="2026-07-23T05:31:23.315" v="102" actId="47"/>
        <pc:sldMkLst>
          <pc:docMk/>
          <pc:sldMk cId="272359882" sldId="293"/>
        </pc:sldMkLst>
      </pc:sldChg>
      <pc:sldChg chg="new del">
        <pc:chgData name="Panati Shashank" userId="a1f62d006b20c551" providerId="LiveId" clId="{F5B21C15-9B9E-45B4-A540-258D444FEDE3}" dt="2026-07-23T05:31:23.485" v="103" actId="47"/>
        <pc:sldMkLst>
          <pc:docMk/>
          <pc:sldMk cId="1382824255" sldId="294"/>
        </pc:sldMkLst>
      </pc:sldChg>
      <pc:sldChg chg="new del">
        <pc:chgData name="Panati Shashank" userId="a1f62d006b20c551" providerId="LiveId" clId="{F5B21C15-9B9E-45B4-A540-258D444FEDE3}" dt="2026-07-23T05:31:23.658" v="104" actId="47"/>
        <pc:sldMkLst>
          <pc:docMk/>
          <pc:sldMk cId="3601798030" sldId="295"/>
        </pc:sldMkLst>
      </pc:sldChg>
      <pc:sldChg chg="new del">
        <pc:chgData name="Panati Shashank" userId="a1f62d006b20c551" providerId="LiveId" clId="{F5B21C15-9B9E-45B4-A540-258D444FEDE3}" dt="2026-07-23T05:31:23.823" v="105" actId="47"/>
        <pc:sldMkLst>
          <pc:docMk/>
          <pc:sldMk cId="1833076678" sldId="296"/>
        </pc:sldMkLst>
      </pc:sldChg>
      <pc:sldChg chg="new del">
        <pc:chgData name="Panati Shashank" userId="a1f62d006b20c551" providerId="LiveId" clId="{F5B21C15-9B9E-45B4-A540-258D444FEDE3}" dt="2026-07-23T05:31:24.041" v="106" actId="47"/>
        <pc:sldMkLst>
          <pc:docMk/>
          <pc:sldMk cId="3572183379" sldId="297"/>
        </pc:sldMkLst>
      </pc:sldChg>
      <pc:sldChg chg="new del">
        <pc:chgData name="Panati Shashank" userId="a1f62d006b20c551" providerId="LiveId" clId="{F5B21C15-9B9E-45B4-A540-258D444FEDE3}" dt="2026-07-23T05:31:24.169" v="107" actId="47"/>
        <pc:sldMkLst>
          <pc:docMk/>
          <pc:sldMk cId="2851705492" sldId="298"/>
        </pc:sldMkLst>
      </pc:sldChg>
      <pc:sldChg chg="new del">
        <pc:chgData name="Panati Shashank" userId="a1f62d006b20c551" providerId="LiveId" clId="{F5B21C15-9B9E-45B4-A540-258D444FEDE3}" dt="2026-07-23T05:31:24.337" v="108" actId="47"/>
        <pc:sldMkLst>
          <pc:docMk/>
          <pc:sldMk cId="2541965002" sldId="299"/>
        </pc:sldMkLst>
      </pc:sldChg>
      <pc:sldChg chg="new del">
        <pc:chgData name="Panati Shashank" userId="a1f62d006b20c551" providerId="LiveId" clId="{F5B21C15-9B9E-45B4-A540-258D444FEDE3}" dt="2026-07-23T05:31:24.510" v="109" actId="47"/>
        <pc:sldMkLst>
          <pc:docMk/>
          <pc:sldMk cId="3825971610" sldId="300"/>
        </pc:sldMkLst>
      </pc:sldChg>
      <pc:sldChg chg="new del">
        <pc:chgData name="Panati Shashank" userId="a1f62d006b20c551" providerId="LiveId" clId="{F5B21C15-9B9E-45B4-A540-258D444FEDE3}" dt="2026-07-23T05:31:24.668" v="110" actId="47"/>
        <pc:sldMkLst>
          <pc:docMk/>
          <pc:sldMk cId="1158563371" sldId="301"/>
        </pc:sldMkLst>
      </pc:sldChg>
      <pc:sldChg chg="new del">
        <pc:chgData name="Panati Shashank" userId="a1f62d006b20c551" providerId="LiveId" clId="{F5B21C15-9B9E-45B4-A540-258D444FEDE3}" dt="2026-07-23T05:31:24.828" v="111" actId="47"/>
        <pc:sldMkLst>
          <pc:docMk/>
          <pc:sldMk cId="3892300042" sldId="302"/>
        </pc:sldMkLst>
      </pc:sldChg>
      <pc:sldChg chg="new del">
        <pc:chgData name="Panati Shashank" userId="a1f62d006b20c551" providerId="LiveId" clId="{F5B21C15-9B9E-45B4-A540-258D444FEDE3}" dt="2026-07-23T05:31:24.988" v="112" actId="47"/>
        <pc:sldMkLst>
          <pc:docMk/>
          <pc:sldMk cId="1239642407" sldId="303"/>
        </pc:sldMkLst>
      </pc:sldChg>
      <pc:sldChg chg="new del">
        <pc:chgData name="Panati Shashank" userId="a1f62d006b20c551" providerId="LiveId" clId="{F5B21C15-9B9E-45B4-A540-258D444FEDE3}" dt="2026-07-23T05:31:25.150" v="113" actId="47"/>
        <pc:sldMkLst>
          <pc:docMk/>
          <pc:sldMk cId="733967817" sldId="304"/>
        </pc:sldMkLst>
      </pc:sldChg>
      <pc:sldChg chg="new del">
        <pc:chgData name="Panati Shashank" userId="a1f62d006b20c551" providerId="LiveId" clId="{F5B21C15-9B9E-45B4-A540-258D444FEDE3}" dt="2026-07-23T05:31:25.326" v="114" actId="47"/>
        <pc:sldMkLst>
          <pc:docMk/>
          <pc:sldMk cId="2110025576" sldId="305"/>
        </pc:sldMkLst>
      </pc:sldChg>
      <pc:sldChg chg="new del">
        <pc:chgData name="Panati Shashank" userId="a1f62d006b20c551" providerId="LiveId" clId="{F5B21C15-9B9E-45B4-A540-258D444FEDE3}" dt="2026-07-23T05:31:25.512" v="115" actId="47"/>
        <pc:sldMkLst>
          <pc:docMk/>
          <pc:sldMk cId="77486865" sldId="306"/>
        </pc:sldMkLst>
      </pc:sldChg>
      <pc:sldChg chg="new del">
        <pc:chgData name="Panati Shashank" userId="a1f62d006b20c551" providerId="LiveId" clId="{F5B21C15-9B9E-45B4-A540-258D444FEDE3}" dt="2026-07-23T05:31:25.692" v="116" actId="47"/>
        <pc:sldMkLst>
          <pc:docMk/>
          <pc:sldMk cId="299302888" sldId="307"/>
        </pc:sldMkLst>
      </pc:sldChg>
      <pc:sldChg chg="new del">
        <pc:chgData name="Panati Shashank" userId="a1f62d006b20c551" providerId="LiveId" clId="{F5B21C15-9B9E-45B4-A540-258D444FEDE3}" dt="2026-07-23T05:31:25.865" v="117" actId="47"/>
        <pc:sldMkLst>
          <pc:docMk/>
          <pc:sldMk cId="1768297856" sldId="308"/>
        </pc:sldMkLst>
      </pc:sldChg>
      <pc:sldChg chg="new del">
        <pc:chgData name="Panati Shashank" userId="a1f62d006b20c551" providerId="LiveId" clId="{F5B21C15-9B9E-45B4-A540-258D444FEDE3}" dt="2026-07-23T05:31:26.037" v="118" actId="47"/>
        <pc:sldMkLst>
          <pc:docMk/>
          <pc:sldMk cId="831539149" sldId="309"/>
        </pc:sldMkLst>
      </pc:sldChg>
      <pc:sldChg chg="new del">
        <pc:chgData name="Panati Shashank" userId="a1f62d006b20c551" providerId="LiveId" clId="{F5B21C15-9B9E-45B4-A540-258D444FEDE3}" dt="2026-07-23T05:31:26.219" v="119" actId="47"/>
        <pc:sldMkLst>
          <pc:docMk/>
          <pc:sldMk cId="269963167" sldId="310"/>
        </pc:sldMkLst>
      </pc:sldChg>
      <pc:sldChg chg="new del">
        <pc:chgData name="Panati Shashank" userId="a1f62d006b20c551" providerId="LiveId" clId="{F5B21C15-9B9E-45B4-A540-258D444FEDE3}" dt="2026-07-23T05:31:26.403" v="120" actId="47"/>
        <pc:sldMkLst>
          <pc:docMk/>
          <pc:sldMk cId="656825974" sldId="311"/>
        </pc:sldMkLst>
      </pc:sldChg>
      <pc:sldChg chg="new del">
        <pc:chgData name="Panati Shashank" userId="a1f62d006b20c551" providerId="LiveId" clId="{F5B21C15-9B9E-45B4-A540-258D444FEDE3}" dt="2026-07-23T05:31:26.585" v="121" actId="47"/>
        <pc:sldMkLst>
          <pc:docMk/>
          <pc:sldMk cId="1605769856" sldId="312"/>
        </pc:sldMkLst>
      </pc:sldChg>
      <pc:sldChg chg="new del">
        <pc:chgData name="Panati Shashank" userId="a1f62d006b20c551" providerId="LiveId" clId="{F5B21C15-9B9E-45B4-A540-258D444FEDE3}" dt="2026-07-23T05:31:26.757" v="122" actId="47"/>
        <pc:sldMkLst>
          <pc:docMk/>
          <pc:sldMk cId="866810166" sldId="313"/>
        </pc:sldMkLst>
      </pc:sldChg>
      <pc:sldChg chg="new del">
        <pc:chgData name="Panati Shashank" userId="a1f62d006b20c551" providerId="LiveId" clId="{F5B21C15-9B9E-45B4-A540-258D444FEDE3}" dt="2026-07-23T05:31:26.933" v="123" actId="47"/>
        <pc:sldMkLst>
          <pc:docMk/>
          <pc:sldMk cId="1698948885" sldId="314"/>
        </pc:sldMkLst>
      </pc:sldChg>
      <pc:sldChg chg="new del">
        <pc:chgData name="Panati Shashank" userId="a1f62d006b20c551" providerId="LiveId" clId="{F5B21C15-9B9E-45B4-A540-258D444FEDE3}" dt="2026-07-23T05:31:27.104" v="124" actId="47"/>
        <pc:sldMkLst>
          <pc:docMk/>
          <pc:sldMk cId="2777709081" sldId="315"/>
        </pc:sldMkLst>
      </pc:sldChg>
      <pc:sldChg chg="new del">
        <pc:chgData name="Panati Shashank" userId="a1f62d006b20c551" providerId="LiveId" clId="{F5B21C15-9B9E-45B4-A540-258D444FEDE3}" dt="2026-07-23T05:31:27.280" v="125" actId="47"/>
        <pc:sldMkLst>
          <pc:docMk/>
          <pc:sldMk cId="2538218431" sldId="316"/>
        </pc:sldMkLst>
      </pc:sldChg>
      <pc:sldChg chg="new del">
        <pc:chgData name="Panati Shashank" userId="a1f62d006b20c551" providerId="LiveId" clId="{F5B21C15-9B9E-45B4-A540-258D444FEDE3}" dt="2026-07-23T05:31:27.889" v="126" actId="47"/>
        <pc:sldMkLst>
          <pc:docMk/>
          <pc:sldMk cId="398494663" sldId="317"/>
        </pc:sldMkLst>
      </pc:sldChg>
      <pc:sldChg chg="new del">
        <pc:chgData name="Panati Shashank" userId="a1f62d006b20c551" providerId="LiveId" clId="{F5B21C15-9B9E-45B4-A540-258D444FEDE3}" dt="2026-07-23T05:31:28.054" v="127" actId="47"/>
        <pc:sldMkLst>
          <pc:docMk/>
          <pc:sldMk cId="835886966" sldId="318"/>
        </pc:sldMkLst>
      </pc:sldChg>
      <pc:sldChg chg="new del">
        <pc:chgData name="Panati Shashank" userId="a1f62d006b20c551" providerId="LiveId" clId="{F5B21C15-9B9E-45B4-A540-258D444FEDE3}" dt="2026-07-23T05:31:28.236" v="128" actId="47"/>
        <pc:sldMkLst>
          <pc:docMk/>
          <pc:sldMk cId="2255539414" sldId="319"/>
        </pc:sldMkLst>
      </pc:sldChg>
      <pc:sldChg chg="new del">
        <pc:chgData name="Panati Shashank" userId="a1f62d006b20c551" providerId="LiveId" clId="{F5B21C15-9B9E-45B4-A540-258D444FEDE3}" dt="2026-07-23T05:31:28.417" v="129" actId="47"/>
        <pc:sldMkLst>
          <pc:docMk/>
          <pc:sldMk cId="262257711" sldId="320"/>
        </pc:sldMkLst>
      </pc:sldChg>
      <pc:sldChg chg="new del">
        <pc:chgData name="Panati Shashank" userId="a1f62d006b20c551" providerId="LiveId" clId="{F5B21C15-9B9E-45B4-A540-258D444FEDE3}" dt="2026-07-23T05:31:28.614" v="130" actId="47"/>
        <pc:sldMkLst>
          <pc:docMk/>
          <pc:sldMk cId="2361483687" sldId="321"/>
        </pc:sldMkLst>
      </pc:sldChg>
      <pc:sldChg chg="new del">
        <pc:chgData name="Panati Shashank" userId="a1f62d006b20c551" providerId="LiveId" clId="{F5B21C15-9B9E-45B4-A540-258D444FEDE3}" dt="2026-07-23T05:31:28.789" v="131" actId="47"/>
        <pc:sldMkLst>
          <pc:docMk/>
          <pc:sldMk cId="293196200" sldId="322"/>
        </pc:sldMkLst>
      </pc:sldChg>
      <pc:sldChg chg="new del">
        <pc:chgData name="Panati Shashank" userId="a1f62d006b20c551" providerId="LiveId" clId="{F5B21C15-9B9E-45B4-A540-258D444FEDE3}" dt="2026-07-23T05:31:28.977" v="132" actId="47"/>
        <pc:sldMkLst>
          <pc:docMk/>
          <pc:sldMk cId="2778955203" sldId="323"/>
        </pc:sldMkLst>
      </pc:sldChg>
      <pc:sldChg chg="new del">
        <pc:chgData name="Panati Shashank" userId="a1f62d006b20c551" providerId="LiveId" clId="{F5B21C15-9B9E-45B4-A540-258D444FEDE3}" dt="2026-07-23T05:31:29.470" v="133" actId="47"/>
        <pc:sldMkLst>
          <pc:docMk/>
          <pc:sldMk cId="2774205029" sldId="324"/>
        </pc:sldMkLst>
      </pc:sldChg>
      <pc:sldChg chg="new del">
        <pc:chgData name="Panati Shashank" userId="a1f62d006b20c551" providerId="LiveId" clId="{F5B21C15-9B9E-45B4-A540-258D444FEDE3}" dt="2026-07-23T05:31:29.657" v="134" actId="47"/>
        <pc:sldMkLst>
          <pc:docMk/>
          <pc:sldMk cId="2374454549" sldId="325"/>
        </pc:sldMkLst>
      </pc:sldChg>
      <pc:sldChg chg="new del">
        <pc:chgData name="Panati Shashank" userId="a1f62d006b20c551" providerId="LiveId" clId="{F5B21C15-9B9E-45B4-A540-258D444FEDE3}" dt="2026-07-23T05:31:29.854" v="135" actId="47"/>
        <pc:sldMkLst>
          <pc:docMk/>
          <pc:sldMk cId="2177641873" sldId="326"/>
        </pc:sldMkLst>
      </pc:sldChg>
      <pc:sldChg chg="new del">
        <pc:chgData name="Panati Shashank" userId="a1f62d006b20c551" providerId="LiveId" clId="{F5B21C15-9B9E-45B4-A540-258D444FEDE3}" dt="2026-07-23T05:31:30.054" v="136" actId="47"/>
        <pc:sldMkLst>
          <pc:docMk/>
          <pc:sldMk cId="1344369951" sldId="327"/>
        </pc:sldMkLst>
      </pc:sldChg>
      <pc:sldChg chg="new del">
        <pc:chgData name="Panati Shashank" userId="a1f62d006b20c551" providerId="LiveId" clId="{F5B21C15-9B9E-45B4-A540-258D444FEDE3}" dt="2026-07-23T05:31:30.248" v="137" actId="47"/>
        <pc:sldMkLst>
          <pc:docMk/>
          <pc:sldMk cId="3390094119" sldId="328"/>
        </pc:sldMkLst>
      </pc:sldChg>
      <pc:sldChg chg="new del">
        <pc:chgData name="Panati Shashank" userId="a1f62d006b20c551" providerId="LiveId" clId="{F5B21C15-9B9E-45B4-A540-258D444FEDE3}" dt="2026-07-23T05:31:30.407" v="138" actId="47"/>
        <pc:sldMkLst>
          <pc:docMk/>
          <pc:sldMk cId="3348955298" sldId="329"/>
        </pc:sldMkLst>
      </pc:sldChg>
      <pc:sldChg chg="new del">
        <pc:chgData name="Panati Shashank" userId="a1f62d006b20c551" providerId="LiveId" clId="{F5B21C15-9B9E-45B4-A540-258D444FEDE3}" dt="2026-07-23T05:31:30.570" v="139" actId="47"/>
        <pc:sldMkLst>
          <pc:docMk/>
          <pc:sldMk cId="2046076656" sldId="330"/>
        </pc:sldMkLst>
      </pc:sldChg>
      <pc:sldChg chg="new del">
        <pc:chgData name="Panati Shashank" userId="a1f62d006b20c551" providerId="LiveId" clId="{F5B21C15-9B9E-45B4-A540-258D444FEDE3}" dt="2026-07-23T05:31:30.742" v="140" actId="47"/>
        <pc:sldMkLst>
          <pc:docMk/>
          <pc:sldMk cId="3810118488" sldId="331"/>
        </pc:sldMkLst>
      </pc:sldChg>
      <pc:sldChg chg="new del">
        <pc:chgData name="Panati Shashank" userId="a1f62d006b20c551" providerId="LiveId" clId="{F5B21C15-9B9E-45B4-A540-258D444FEDE3}" dt="2026-07-23T05:31:30.931" v="141" actId="47"/>
        <pc:sldMkLst>
          <pc:docMk/>
          <pc:sldMk cId="4025261796" sldId="332"/>
        </pc:sldMkLst>
      </pc:sldChg>
      <pc:sldChg chg="new del">
        <pc:chgData name="Panati Shashank" userId="a1f62d006b20c551" providerId="LiveId" clId="{F5B21C15-9B9E-45B4-A540-258D444FEDE3}" dt="2026-07-23T05:31:31.132" v="142" actId="47"/>
        <pc:sldMkLst>
          <pc:docMk/>
          <pc:sldMk cId="1223507221" sldId="333"/>
        </pc:sldMkLst>
      </pc:sldChg>
      <pc:sldChg chg="new del">
        <pc:chgData name="Panati Shashank" userId="a1f62d006b20c551" providerId="LiveId" clId="{F5B21C15-9B9E-45B4-A540-258D444FEDE3}" dt="2026-07-23T05:31:31.794" v="143" actId="47"/>
        <pc:sldMkLst>
          <pc:docMk/>
          <pc:sldMk cId="256313009" sldId="334"/>
        </pc:sldMkLst>
      </pc:sldChg>
      <pc:sldChg chg="new del">
        <pc:chgData name="Panati Shashank" userId="a1f62d006b20c551" providerId="LiveId" clId="{F5B21C15-9B9E-45B4-A540-258D444FEDE3}" dt="2026-07-23T05:31:32.021" v="144" actId="47"/>
        <pc:sldMkLst>
          <pc:docMk/>
          <pc:sldMk cId="104058475" sldId="335"/>
        </pc:sldMkLst>
      </pc:sldChg>
      <pc:sldChg chg="new del">
        <pc:chgData name="Panati Shashank" userId="a1f62d006b20c551" providerId="LiveId" clId="{F5B21C15-9B9E-45B4-A540-258D444FEDE3}" dt="2026-07-23T05:31:32.211" v="145" actId="47"/>
        <pc:sldMkLst>
          <pc:docMk/>
          <pc:sldMk cId="2912344457" sldId="336"/>
        </pc:sldMkLst>
      </pc:sldChg>
      <pc:sldChg chg="new add del">
        <pc:chgData name="Panati Shashank" userId="a1f62d006b20c551" providerId="LiveId" clId="{F5B21C15-9B9E-45B4-A540-258D444FEDE3}" dt="2026-07-23T05:31:34.899" v="148" actId="47"/>
        <pc:sldMkLst>
          <pc:docMk/>
          <pc:sldMk cId="994954459" sldId="337"/>
        </pc:sldMkLst>
      </pc:sldChg>
      <pc:sldChg chg="new del">
        <pc:chgData name="Panati Shashank" userId="a1f62d006b20c551" providerId="LiveId" clId="{F5B21C15-9B9E-45B4-A540-258D444FEDE3}" dt="2026-07-23T05:21:21.118" v="53" actId="47"/>
        <pc:sldMkLst>
          <pc:docMk/>
          <pc:sldMk cId="3274044669" sldId="33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A2A0-33EF-CDAD-62F3-72CC2DD5C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2613E-BF84-8A7C-E12C-2FE1D035A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8DED7-353F-7545-9A37-1722EAD68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FDAE-9BD3-452E-98F2-A400019FFE3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157F-6428-DAED-760A-4D50543F7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96C42-ABE7-D94D-34CB-0D706105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B67C3-FCEB-43A2-95B4-B21DA4179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7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85B22-7307-9772-2AAA-58D89BCD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84323-B8BE-1251-EEEB-269D72598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BE4C0-494F-0FCC-6712-31F6BA886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FDAE-9BD3-452E-98F2-A400019FFE3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1288D-84F6-8BFD-0AAC-E920497A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1C62E-E287-32BF-A6AE-39238D7F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B67C3-FCEB-43A2-95B4-B21DA4179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22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AB0E7-1CDB-5ED7-BA9E-703F00C00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73298-0018-8203-EA78-FEECE6A4A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67D7C-481F-8A78-2CE2-EA5B2CD6F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FDAE-9BD3-452E-98F2-A400019FFE3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28E31-0F6E-D7AC-1726-B34245EB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45456-4568-3966-E19E-FA1D9644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B67C3-FCEB-43A2-95B4-B21DA4179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03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E3CA8-5392-87F3-426F-0D237E532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945A-8322-BE14-C44F-EDB03E30D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1FF90-28F1-6497-5CAB-3A9318744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43F38-E1C5-49BE-5E48-9D58E81B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FDAE-9BD3-452E-98F2-A400019FFE3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88FEE-4799-6E39-98A1-4935D3F8C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FDFCE-0283-1B94-9648-1AE0D24A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B67C3-FCEB-43A2-95B4-B21DA4179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87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D216-0000-5512-1A89-85B463DD2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02A9F-DB62-A69C-21EB-046882D55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C31BD-3545-2426-FD79-078D368C9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96FF9C-6E55-59AB-DEB1-C3FEF6125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7A960-63A9-EFA6-FD60-6D77DB41C6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5012C4-F8B6-35D5-63FB-11DCAAE59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FDAE-9BD3-452E-98F2-A400019FFE3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03CF91-84D3-2188-866F-9655EE89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60CDAA-725C-BCD2-78E0-ADE32021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B67C3-FCEB-43A2-95B4-B21DA4179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6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3DAC3-B24F-E8D7-3F70-5CA0E55D6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E4CCF6-37BA-E0B8-0D83-C9D86E6DE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FDAE-9BD3-452E-98F2-A400019FFE3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78E5C-9FDA-E698-F0C9-A0B0C07D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A4D16C-EB17-D67B-BDC8-AC10A5B5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B67C3-FCEB-43A2-95B4-B21DA4179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37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8460E6-1114-840E-C119-607FFE683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FDAE-9BD3-452E-98F2-A400019FFE3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AB19F-7ADF-0CA1-AF8F-B46604B4D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91F54-E396-9C98-5450-BA195F61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B67C3-FCEB-43A2-95B4-B21DA4179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09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FA75-3B4A-25D9-8AA7-CCAB2D4E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9F441-DC52-6AC8-832E-0B233EC1C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BD466-AC1B-C476-26A9-F92837586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A1D8B-3D1F-2D20-1F14-D563A6A8C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FDAE-9BD3-452E-98F2-A400019FFE3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04EDC-689E-BC30-CCE9-E2E17AF6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0E164-F04B-9806-F328-FE2B1C04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B67C3-FCEB-43A2-95B4-B21DA4179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0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F2D8A-A173-C9AB-3186-E23D3DEBE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B4346-0C20-A85C-E5C8-97674D79C6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77BCB-087B-0EE6-D09C-192B9EA19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B0299-A664-0FF3-DDEA-4779FC77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FDAE-9BD3-452E-98F2-A400019FFE3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6749F-393A-B3CB-87C0-CF37CB7FE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1F441-1AC6-E7F9-1688-A40541DC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B67C3-FCEB-43A2-95B4-B21DA4179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27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A098-125F-1FC9-0E1C-71DC55C1C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4DD717-0405-253F-76DE-1D50A5F48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0D5D1-6099-A661-4162-E88F5CA8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FDAE-9BD3-452E-98F2-A400019FFE3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919A3-953E-748E-F05F-A5B4BD9BF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A8C1E-1EE7-6CB3-2BF1-7AE1E918E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B67C3-FCEB-43A2-95B4-B21DA4179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7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A3C145-6BE9-15E3-0578-58282ABC3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88A62-46CD-252A-4BEA-75C2B7E34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79853-8EC6-6EEF-3A4B-C24C0DD8C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FDAE-9BD3-452E-98F2-A400019FFE3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88A60-011C-163A-0EF4-B801311D3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2BEEF-CE2C-DA9F-7231-73A76C28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B67C3-FCEB-43A2-95B4-B21DA4179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99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F64BB2-0C31-2632-41B9-03CDD1BD8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F34EE-CBD7-8461-A0CB-9DC3A67BA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9ECD9-1DF7-BE95-F3DB-529B31685E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FFDAE-9BD3-452E-98F2-A400019FFE33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77F50-9175-8116-1A7D-1D34CFF21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85CCD-BFEA-7AB8-C81A-300EBD001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B67C3-FCEB-43A2-95B4-B21DA4179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8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9984" y="2351315"/>
            <a:ext cx="10515599" cy="19594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700" b="1" dirty="0"/>
              <a:t>CSA0504- DATABASE MANAGEMENT SYSTEM</a:t>
            </a:r>
            <a:br>
              <a:rPr lang="en-US" sz="5700" b="1" dirty="0"/>
            </a:br>
            <a:br>
              <a:rPr lang="en-US" sz="5700" b="1" dirty="0"/>
            </a:br>
            <a:r>
              <a:rPr lang="en-US" sz="4400" b="1" dirty="0"/>
              <a:t>TECHNICAL 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36789" y="5107944"/>
            <a:ext cx="6343125" cy="1632491"/>
          </a:xfrm>
        </p:spPr>
        <p:txBody>
          <a:bodyPr>
            <a:noAutofit/>
          </a:bodyPr>
          <a:lstStyle/>
          <a:p>
            <a:pPr algn="ctr"/>
            <a:r>
              <a:rPr lang="en-US" sz="3000" b="1" dirty="0"/>
              <a:t>P SHASHANK(192524282)</a:t>
            </a:r>
          </a:p>
        </p:txBody>
      </p:sp>
      <p:pic>
        <p:nvPicPr>
          <p:cNvPr id="4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64" y="443338"/>
            <a:ext cx="9877969" cy="79763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91356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1) Create and present an ER diagram for an Online Library System, explaining each component clearly.</a:t>
            </a:r>
            <a:br>
              <a:rPr lang="en-US" sz="3200" b="1" dirty="0"/>
            </a:b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2320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775" y="770074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Introduction to Online Library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215" y="2338252"/>
            <a:ext cx="10957559" cy="3409406"/>
          </a:xfrm>
        </p:spPr>
        <p:txBody>
          <a:bodyPr>
            <a:normAutofit/>
          </a:bodyPr>
          <a:lstStyle/>
          <a:p>
            <a:r>
              <a:rPr lang="en-US" sz="2600" dirty="0"/>
              <a:t>An Online Library System manages books, members, and borrowing activities.</a:t>
            </a:r>
          </a:p>
          <a:p>
            <a:r>
              <a:rPr lang="en-US" sz="2600" dirty="0"/>
              <a:t>The ER diagram represents the database structure visually.</a:t>
            </a:r>
          </a:p>
          <a:p>
            <a:r>
              <a:rPr lang="en-US" sz="2600" dirty="0"/>
              <a:t>It identifies entities, attributes, and relationships.</a:t>
            </a:r>
          </a:p>
          <a:p>
            <a:r>
              <a:rPr lang="en-US" sz="2600" dirty="0"/>
              <a:t>It helps design an efficient and organized database.</a:t>
            </a:r>
          </a:p>
          <a:p>
            <a:r>
              <a:rPr lang="en-US" sz="2600" dirty="0"/>
              <a:t>It minimizes data redundancy and improves data consistency.</a:t>
            </a:r>
          </a:p>
        </p:txBody>
      </p:sp>
    </p:spTree>
    <p:extLst>
      <p:ext uri="{BB962C8B-B14F-4D97-AF65-F5344CB8AC3E}">
        <p14:creationId xmlns:p14="http://schemas.microsoft.com/office/powerpoint/2010/main" val="3138893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Entities and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914" y="1690688"/>
            <a:ext cx="10729686" cy="451530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Main Entities</a:t>
            </a:r>
            <a:endParaRPr lang="en-US" dirty="0"/>
          </a:p>
          <a:p>
            <a:r>
              <a:rPr lang="en-US" dirty="0"/>
              <a:t>Book</a:t>
            </a:r>
          </a:p>
          <a:p>
            <a:r>
              <a:rPr lang="en-US" dirty="0"/>
              <a:t>Member</a:t>
            </a:r>
          </a:p>
          <a:p>
            <a:r>
              <a:rPr lang="en-US" dirty="0"/>
              <a:t>Librarian</a:t>
            </a:r>
          </a:p>
          <a:p>
            <a:r>
              <a:rPr lang="en-US" dirty="0"/>
              <a:t>Loan</a:t>
            </a:r>
          </a:p>
          <a:p>
            <a:r>
              <a:rPr lang="en-US" b="1" dirty="0"/>
              <a:t>Key Attributes</a:t>
            </a:r>
            <a:endParaRPr lang="en-US" dirty="0"/>
          </a:p>
          <a:p>
            <a:r>
              <a:rPr lang="en-US" dirty="0"/>
              <a:t>Book: </a:t>
            </a:r>
            <a:r>
              <a:rPr lang="en-US" dirty="0" err="1"/>
              <a:t>Book_ID</a:t>
            </a:r>
            <a:r>
              <a:rPr lang="en-US" dirty="0"/>
              <a:t>, Title, Author, ISBN</a:t>
            </a:r>
          </a:p>
          <a:p>
            <a:r>
              <a:rPr lang="en-US" dirty="0"/>
              <a:t>Member: </a:t>
            </a:r>
            <a:r>
              <a:rPr lang="en-US" dirty="0" err="1"/>
              <a:t>Member_ID</a:t>
            </a:r>
            <a:r>
              <a:rPr lang="en-US" dirty="0"/>
              <a:t>, Name, Email</a:t>
            </a:r>
          </a:p>
          <a:p>
            <a:r>
              <a:rPr lang="en-US" dirty="0"/>
              <a:t>Librarian: </a:t>
            </a:r>
            <a:r>
              <a:rPr lang="en-US" dirty="0" err="1"/>
              <a:t>Employee_ID</a:t>
            </a:r>
            <a:r>
              <a:rPr lang="en-US" dirty="0"/>
              <a:t>, Name</a:t>
            </a:r>
          </a:p>
          <a:p>
            <a:r>
              <a:rPr lang="en-US" dirty="0"/>
              <a:t>Loan: </a:t>
            </a:r>
            <a:r>
              <a:rPr lang="en-US" dirty="0" err="1"/>
              <a:t>Loan_ID</a:t>
            </a:r>
            <a:r>
              <a:rPr lang="en-US" dirty="0"/>
              <a:t>, </a:t>
            </a:r>
            <a:r>
              <a:rPr lang="en-US" dirty="0" err="1"/>
              <a:t>Issue_Date</a:t>
            </a:r>
            <a:r>
              <a:rPr lang="en-US" dirty="0"/>
              <a:t>, </a:t>
            </a:r>
            <a:r>
              <a:rPr lang="en-US" dirty="0" err="1"/>
              <a:t>Return_Date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56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Relationships in 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1796597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Relationships among Entities</a:t>
            </a:r>
            <a:endParaRPr lang="en-US" dirty="0"/>
          </a:p>
          <a:p>
            <a:r>
              <a:rPr lang="en-US" dirty="0"/>
              <a:t>A Member borrows many Books.</a:t>
            </a:r>
          </a:p>
          <a:p>
            <a:r>
              <a:rPr lang="en-US" dirty="0"/>
              <a:t>A Book can be borrowed by different Members over time.</a:t>
            </a:r>
          </a:p>
          <a:p>
            <a:r>
              <a:rPr lang="en-US" dirty="0"/>
              <a:t>A Librarian manages book issue and return.</a:t>
            </a:r>
          </a:p>
          <a:p>
            <a:r>
              <a:rPr lang="en-US" dirty="0"/>
              <a:t>A Loan records borrowing transactions.</a:t>
            </a:r>
          </a:p>
          <a:p>
            <a:r>
              <a:rPr lang="en-US" dirty="0"/>
              <a:t>Relationships define how entities interact.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34600" y="2181557"/>
            <a:ext cx="165462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MEMBER</a:t>
            </a:r>
          </a:p>
          <a:p>
            <a:r>
              <a:rPr lang="en-US" dirty="0"/>
              <a:t>   |</a:t>
            </a:r>
          </a:p>
          <a:p>
            <a:r>
              <a:rPr lang="en-US" dirty="0"/>
              <a:t> Borrows</a:t>
            </a:r>
          </a:p>
          <a:p>
            <a:r>
              <a:rPr lang="en-US" dirty="0"/>
              <a:t>   |</a:t>
            </a:r>
          </a:p>
          <a:p>
            <a:r>
              <a:rPr lang="en-US" dirty="0"/>
              <a:t> BOOK</a:t>
            </a:r>
          </a:p>
          <a:p>
            <a:endParaRPr lang="en-US" dirty="0"/>
          </a:p>
          <a:p>
            <a:r>
              <a:rPr lang="en-US" dirty="0"/>
              <a:t>BOOK</a:t>
            </a:r>
          </a:p>
          <a:p>
            <a:r>
              <a:rPr lang="en-US" dirty="0"/>
              <a:t>   |</a:t>
            </a:r>
          </a:p>
          <a:p>
            <a:r>
              <a:rPr lang="en-US" dirty="0"/>
              <a:t>Recorded In</a:t>
            </a:r>
          </a:p>
          <a:p>
            <a:r>
              <a:rPr lang="en-US" dirty="0"/>
              <a:t>   |</a:t>
            </a:r>
          </a:p>
          <a:p>
            <a:r>
              <a:rPr lang="en-US" dirty="0"/>
              <a:t> LOAN</a:t>
            </a:r>
          </a:p>
        </p:txBody>
      </p:sp>
    </p:spTree>
    <p:extLst>
      <p:ext uri="{BB962C8B-B14F-4D97-AF65-F5344CB8AC3E}">
        <p14:creationId xmlns:p14="http://schemas.microsoft.com/office/powerpoint/2010/main" val="1941677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Advantages and Complete 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Benefits of ER Diagram</a:t>
            </a:r>
            <a:endParaRPr lang="en-US" dirty="0"/>
          </a:p>
          <a:p>
            <a:r>
              <a:rPr lang="en-US" dirty="0"/>
              <a:t>Simplifies database design.</a:t>
            </a:r>
          </a:p>
          <a:p>
            <a:r>
              <a:rPr lang="en-US" dirty="0"/>
              <a:t>Reduces duplicate data.</a:t>
            </a:r>
          </a:p>
          <a:p>
            <a:r>
              <a:rPr lang="en-US" dirty="0"/>
              <a:t>Improves data integrity.</a:t>
            </a:r>
          </a:p>
          <a:p>
            <a:r>
              <a:rPr lang="en-US" dirty="0"/>
              <a:t>Makes future database modifications easier.</a:t>
            </a:r>
          </a:p>
          <a:p>
            <a:r>
              <a:rPr lang="en-US" dirty="0"/>
              <a:t>Supports efficient query processing.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65142" y="2800965"/>
            <a:ext cx="40494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MEMBER -------- BORROWS -------- BOOK</a:t>
            </a:r>
          </a:p>
          <a:p>
            <a:r>
              <a:rPr lang="en-US" dirty="0"/>
              <a:t>   |                               |</a:t>
            </a:r>
          </a:p>
          <a:p>
            <a:r>
              <a:rPr lang="en-US" dirty="0"/>
              <a:t>   |                               |</a:t>
            </a:r>
          </a:p>
          <a:p>
            <a:r>
              <a:rPr lang="en-US" dirty="0"/>
              <a:t>   -------- LOAN -------- LIBRARIAN</a:t>
            </a:r>
          </a:p>
        </p:txBody>
      </p:sp>
    </p:spTree>
    <p:extLst>
      <p:ext uri="{BB962C8B-B14F-4D97-AF65-F5344CB8AC3E}">
        <p14:creationId xmlns:p14="http://schemas.microsoft.com/office/powerpoint/2010/main" val="6818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6498" y="1277983"/>
            <a:ext cx="11176382" cy="3329581"/>
          </a:xfrm>
        </p:spPr>
        <p:txBody>
          <a:bodyPr>
            <a:normAutofit/>
          </a:bodyPr>
          <a:lstStyle/>
          <a:p>
            <a:r>
              <a:rPr lang="en-US" sz="3900" b="1" dirty="0"/>
              <a:t>Q2. Prepare a presentation on the EER model, demonstrating generalization and specialization with a University case study.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5342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Introduction to EER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169" y="1752472"/>
            <a:ext cx="11214962" cy="4195481"/>
          </a:xfrm>
        </p:spPr>
        <p:txBody>
          <a:bodyPr>
            <a:noAutofit/>
          </a:bodyPr>
          <a:lstStyle/>
          <a:p>
            <a:r>
              <a:rPr lang="en-US" sz="3400" b="1" dirty="0"/>
              <a:t>Enhanced Entity Relationship (EER) Model</a:t>
            </a:r>
            <a:endParaRPr lang="en-US" sz="3400" dirty="0"/>
          </a:p>
          <a:p>
            <a:r>
              <a:rPr lang="en-US" sz="3400" dirty="0"/>
              <a:t>EER is an extension of the ER model.</a:t>
            </a:r>
          </a:p>
          <a:p>
            <a:r>
              <a:rPr lang="en-US" sz="3400" dirty="0"/>
              <a:t>It supports more complex database designs.</a:t>
            </a:r>
          </a:p>
          <a:p>
            <a:r>
              <a:rPr lang="en-US" sz="3400" dirty="0"/>
              <a:t>It introduces Generalization and Specialization.</a:t>
            </a:r>
          </a:p>
          <a:p>
            <a:r>
              <a:rPr lang="en-US" sz="3400" dirty="0"/>
              <a:t>It models inheritance among entities.</a:t>
            </a:r>
          </a:p>
          <a:p>
            <a:r>
              <a:rPr lang="en-US" sz="3400" dirty="0"/>
              <a:t>It represents real-world scenarios more accurately.</a:t>
            </a:r>
          </a:p>
        </p:txBody>
      </p:sp>
    </p:spTree>
    <p:extLst>
      <p:ext uri="{BB962C8B-B14F-4D97-AF65-F5344CB8AC3E}">
        <p14:creationId xmlns:p14="http://schemas.microsoft.com/office/powerpoint/2010/main" val="3509715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Generalization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Bottom-up approach.</a:t>
            </a:r>
          </a:p>
          <a:p>
            <a:r>
              <a:rPr lang="en-US" dirty="0"/>
              <a:t>Combines similar entities into one superclass.</a:t>
            </a:r>
          </a:p>
          <a:p>
            <a:r>
              <a:rPr lang="en-US" dirty="0"/>
              <a:t>Common attributes are moved to the parent entity.</a:t>
            </a:r>
          </a:p>
          <a:p>
            <a:r>
              <a:rPr lang="en-US" dirty="0"/>
              <a:t>Reduces redundancy.</a:t>
            </a:r>
          </a:p>
          <a:p>
            <a:r>
              <a:rPr lang="en-US" dirty="0"/>
              <a:t>Improves database organization.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2600" b="1" dirty="0"/>
              <a:t>Common Attributes:</a:t>
            </a:r>
            <a:endParaRPr lang="en-US" sz="2600" dirty="0"/>
          </a:p>
          <a:p>
            <a:r>
              <a:rPr lang="en-US" dirty="0" err="1"/>
              <a:t>Employee_ID</a:t>
            </a:r>
            <a:endParaRPr lang="en-US" dirty="0"/>
          </a:p>
          <a:p>
            <a:r>
              <a:rPr lang="en-US" dirty="0"/>
              <a:t>Name</a:t>
            </a:r>
          </a:p>
          <a:p>
            <a:r>
              <a:rPr lang="en-US" dirty="0"/>
              <a:t>Salary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506858" y="2522809"/>
            <a:ext cx="184694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Professor</a:t>
            </a:r>
          </a:p>
          <a:p>
            <a:r>
              <a:rPr lang="en-US" dirty="0"/>
              <a:t>      \</a:t>
            </a:r>
          </a:p>
          <a:p>
            <a:r>
              <a:rPr lang="en-US" dirty="0"/>
              <a:t>       \</a:t>
            </a:r>
          </a:p>
          <a:p>
            <a:r>
              <a:rPr lang="en-US" dirty="0"/>
              <a:t>Administrator</a:t>
            </a:r>
          </a:p>
          <a:p>
            <a:r>
              <a:rPr lang="en-US" dirty="0"/>
              <a:t>        \</a:t>
            </a:r>
          </a:p>
          <a:p>
            <a:r>
              <a:rPr lang="en-US" dirty="0"/>
              <a:t>      Employee</a:t>
            </a:r>
          </a:p>
        </p:txBody>
      </p:sp>
    </p:spTree>
    <p:extLst>
      <p:ext uri="{BB962C8B-B14F-4D97-AF65-F5344CB8AC3E}">
        <p14:creationId xmlns:p14="http://schemas.microsoft.com/office/powerpoint/2010/main" val="3460559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Specialization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914" y="1869168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Top-down approach.</a:t>
            </a:r>
          </a:p>
          <a:p>
            <a:r>
              <a:rPr lang="en-US" dirty="0"/>
              <a:t>Divides one entity into specialized subclasses.</a:t>
            </a:r>
          </a:p>
          <a:p>
            <a:r>
              <a:rPr lang="en-US" dirty="0"/>
              <a:t>Each subclass has unique attributes.</a:t>
            </a:r>
          </a:p>
          <a:p>
            <a:r>
              <a:rPr lang="en-US" dirty="0"/>
              <a:t>Provides better classification.</a:t>
            </a:r>
          </a:p>
          <a:p>
            <a:r>
              <a:rPr lang="en-US" dirty="0"/>
              <a:t>Supports inheritance.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Example Attributes:</a:t>
            </a:r>
            <a:endParaRPr lang="en-US" dirty="0"/>
          </a:p>
          <a:p>
            <a:r>
              <a:rPr lang="en-US" dirty="0"/>
              <a:t>Student → CGPA</a:t>
            </a:r>
          </a:p>
          <a:p>
            <a:r>
              <a:rPr lang="en-US" dirty="0"/>
              <a:t>Faculty → Subject</a:t>
            </a:r>
          </a:p>
          <a:p>
            <a:r>
              <a:rPr lang="en-US" dirty="0"/>
              <a:t>Staff → Department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561942" y="2567509"/>
            <a:ext cx="313508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PERSON</a:t>
            </a:r>
          </a:p>
          <a:p>
            <a:pPr algn="ctr"/>
            <a:r>
              <a:rPr lang="en-US" dirty="0"/>
              <a:t>   |</a:t>
            </a:r>
          </a:p>
          <a:p>
            <a:pPr algn="ctr"/>
            <a:r>
              <a:rPr lang="en-US" dirty="0"/>
              <a:t>-------------------</a:t>
            </a:r>
          </a:p>
          <a:p>
            <a:pPr algn="ctr"/>
            <a:r>
              <a:rPr lang="en-US" dirty="0"/>
              <a:t>|        |        |</a:t>
            </a:r>
          </a:p>
          <a:p>
            <a:pPr algn="ctr"/>
            <a:r>
              <a:rPr lang="en-US" dirty="0"/>
              <a:t>Student Faculty Staff</a:t>
            </a:r>
          </a:p>
        </p:txBody>
      </p:sp>
    </p:spTree>
    <p:extLst>
      <p:ext uri="{BB962C8B-B14F-4D97-AF65-F5344CB8AC3E}">
        <p14:creationId xmlns:p14="http://schemas.microsoft.com/office/powerpoint/2010/main" val="3952621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and University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Advantages of EER Model</a:t>
            </a:r>
            <a:endParaRPr lang="en-US" dirty="0"/>
          </a:p>
          <a:p>
            <a:r>
              <a:rPr lang="en-US" dirty="0"/>
              <a:t>Represents complex relationships.</a:t>
            </a:r>
          </a:p>
          <a:p>
            <a:r>
              <a:rPr lang="en-US" dirty="0"/>
              <a:t>Supports inheritance.</a:t>
            </a:r>
          </a:p>
          <a:p>
            <a:r>
              <a:rPr lang="en-US" dirty="0"/>
              <a:t>Reduces data duplication.</a:t>
            </a:r>
          </a:p>
          <a:p>
            <a:r>
              <a:rPr lang="en-US" dirty="0"/>
              <a:t>Improves flexibility.</a:t>
            </a:r>
          </a:p>
          <a:p>
            <a:r>
              <a:rPr lang="en-US" dirty="0"/>
              <a:t>Suitable for large organizations like universities.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71543" y="2094024"/>
            <a:ext cx="342537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PERSON</a:t>
            </a:r>
          </a:p>
          <a:p>
            <a:pPr algn="ctr"/>
            <a:r>
              <a:rPr lang="en-US" dirty="0"/>
              <a:t>   |</a:t>
            </a:r>
          </a:p>
          <a:p>
            <a:pPr algn="ctr"/>
            <a:r>
              <a:rPr lang="en-US" dirty="0"/>
              <a:t>-------------------------</a:t>
            </a:r>
          </a:p>
          <a:p>
            <a:pPr algn="ctr"/>
            <a:r>
              <a:rPr lang="en-US" dirty="0"/>
              <a:t>|           |           |</a:t>
            </a:r>
          </a:p>
          <a:p>
            <a:pPr algn="ctr"/>
            <a:r>
              <a:rPr lang="en-US" dirty="0"/>
              <a:t>Student   Faculty     Staff</a:t>
            </a:r>
          </a:p>
          <a:p>
            <a:pPr algn="ctr"/>
            <a:r>
              <a:rPr lang="en-US" dirty="0"/>
              <a:t> |            |           |</a:t>
            </a:r>
          </a:p>
          <a:p>
            <a:pPr algn="ctr"/>
            <a:r>
              <a:rPr lang="en-US" dirty="0"/>
              <a:t>Roll No   Subject    Department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43428" y="5156425"/>
            <a:ext cx="98007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Conclusion</a:t>
            </a:r>
          </a:p>
          <a:p>
            <a:r>
              <a:rPr lang="en-US" b="1" dirty="0"/>
              <a:t>The EER model enhances the traditional ER model by introducing Generalization and Specialization, making university database design more flexible, organized, and efficient.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49284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2886" y="1447799"/>
            <a:ext cx="10444862" cy="3329581"/>
          </a:xfrm>
        </p:spPr>
        <p:txBody>
          <a:bodyPr>
            <a:normAutofit/>
          </a:bodyPr>
          <a:lstStyle/>
          <a:p>
            <a:r>
              <a:rPr lang="en-US" sz="4000" b="1" dirty="0"/>
              <a:t>Q3. Present the concept of data independence (logical and physical) and its significance in DBMS architecture.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9814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Introduction to 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657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Data Independence in DBMS</a:t>
            </a:r>
            <a:endParaRPr lang="en-US" dirty="0"/>
          </a:p>
          <a:p>
            <a:r>
              <a:rPr lang="en-US" dirty="0"/>
              <a:t>Data independence is the ability to modify one level of the database without affecting higher levels.</a:t>
            </a:r>
          </a:p>
          <a:p>
            <a:r>
              <a:rPr lang="en-US" dirty="0"/>
              <a:t>It separates logical and physical data storage.</a:t>
            </a:r>
          </a:p>
          <a:p>
            <a:r>
              <a:rPr lang="en-US" dirty="0"/>
              <a:t>It is achieved using the ANSI/SPARC three-level architecture.</a:t>
            </a:r>
          </a:p>
          <a:p>
            <a:r>
              <a:rPr lang="en-US" dirty="0"/>
              <a:t>It improves flexibility and maintainability.</a:t>
            </a:r>
          </a:p>
          <a:p>
            <a:r>
              <a:rPr lang="en-US" dirty="0"/>
              <a:t>It reduces the cost of database modifications.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956800" y="2893536"/>
            <a:ext cx="1930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External Level</a:t>
            </a:r>
          </a:p>
          <a:p>
            <a:r>
              <a:rPr lang="en-US" dirty="0"/>
              <a:t>      │</a:t>
            </a:r>
          </a:p>
          <a:p>
            <a:r>
              <a:rPr lang="en-US" dirty="0"/>
              <a:t>Conceptual Level</a:t>
            </a:r>
          </a:p>
          <a:p>
            <a:r>
              <a:rPr lang="en-US" dirty="0"/>
              <a:t>      │</a:t>
            </a:r>
          </a:p>
          <a:p>
            <a:r>
              <a:rPr lang="en-US" dirty="0"/>
              <a:t> Internal Level</a:t>
            </a:r>
          </a:p>
        </p:txBody>
      </p:sp>
    </p:spTree>
    <p:extLst>
      <p:ext uri="{BB962C8B-B14F-4D97-AF65-F5344CB8AC3E}">
        <p14:creationId xmlns:p14="http://schemas.microsoft.com/office/powerpoint/2010/main" val="2079101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Physical 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286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Physical Data Independence</a:t>
            </a:r>
            <a:endParaRPr lang="en-US" dirty="0"/>
          </a:p>
          <a:p>
            <a:r>
              <a:rPr lang="en-US" dirty="0"/>
              <a:t>Physical changes do not affect the conceptual schema.</a:t>
            </a:r>
          </a:p>
          <a:p>
            <a:r>
              <a:rPr lang="en-US" dirty="0"/>
              <a:t>Storage devices or file organization can be changed.</a:t>
            </a:r>
          </a:p>
          <a:p>
            <a:r>
              <a:rPr lang="en-US" dirty="0"/>
              <a:t>Improves storage efficiency.</a:t>
            </a:r>
          </a:p>
          <a:p>
            <a:r>
              <a:rPr lang="en-US" dirty="0"/>
              <a:t>No changes are required in application programs.</a:t>
            </a:r>
          </a:p>
          <a:p>
            <a:r>
              <a:rPr lang="en-US" dirty="0"/>
              <a:t>Supported by the Internal Level.</a:t>
            </a:r>
          </a:p>
          <a:p>
            <a:r>
              <a:rPr lang="en-US" b="1" dirty="0"/>
              <a:t>Examples</a:t>
            </a:r>
          </a:p>
          <a:p>
            <a:r>
              <a:rPr lang="en-US" dirty="0"/>
              <a:t>Changing HDD to SSD.</a:t>
            </a:r>
          </a:p>
          <a:p>
            <a:r>
              <a:rPr lang="en-US" dirty="0"/>
              <a:t>Creating indexes.</a:t>
            </a:r>
          </a:p>
          <a:p>
            <a:r>
              <a:rPr lang="en-US" dirty="0"/>
              <a:t>Compressing database 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013372" y="2413339"/>
            <a:ext cx="259805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Applications</a:t>
            </a:r>
          </a:p>
          <a:p>
            <a:r>
              <a:rPr lang="en-US" dirty="0"/>
              <a:t>      │</a:t>
            </a:r>
          </a:p>
          <a:p>
            <a:r>
              <a:rPr lang="en-US" dirty="0"/>
              <a:t>Conceptual Schema</a:t>
            </a:r>
          </a:p>
          <a:p>
            <a:r>
              <a:rPr lang="en-US" dirty="0"/>
              <a:t>      │</a:t>
            </a:r>
          </a:p>
          <a:p>
            <a:r>
              <a:rPr lang="en-US" dirty="0"/>
              <a:t>Internal Schema</a:t>
            </a:r>
          </a:p>
          <a:p>
            <a:r>
              <a:rPr lang="en-US" dirty="0"/>
              <a:t>      │</a:t>
            </a:r>
          </a:p>
          <a:p>
            <a:r>
              <a:rPr lang="en-US" dirty="0"/>
              <a:t>SSD / HDD</a:t>
            </a:r>
          </a:p>
        </p:txBody>
      </p:sp>
    </p:spTree>
    <p:extLst>
      <p:ext uri="{BB962C8B-B14F-4D97-AF65-F5344CB8AC3E}">
        <p14:creationId xmlns:p14="http://schemas.microsoft.com/office/powerpoint/2010/main" val="918778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Logical 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657" y="181111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Logical changes do not affect user applications.</a:t>
            </a:r>
          </a:p>
          <a:p>
            <a:r>
              <a:rPr lang="en-US" dirty="0"/>
              <a:t>New tables or attributes can be added.</a:t>
            </a:r>
          </a:p>
          <a:p>
            <a:r>
              <a:rPr lang="en-US" dirty="0"/>
              <a:t>Existing applications continue working.</a:t>
            </a:r>
          </a:p>
          <a:p>
            <a:r>
              <a:rPr lang="en-US" dirty="0"/>
              <a:t>Easier database expansion.</a:t>
            </a:r>
          </a:p>
          <a:p>
            <a:r>
              <a:rPr lang="en-US" dirty="0"/>
              <a:t>Supported by the Conceptual Level.</a:t>
            </a:r>
          </a:p>
          <a:p>
            <a:r>
              <a:rPr lang="en-US" b="1" dirty="0"/>
              <a:t>Examples</a:t>
            </a:r>
          </a:p>
          <a:p>
            <a:r>
              <a:rPr lang="en-US" dirty="0"/>
              <a:t>Adding Email column.</a:t>
            </a:r>
          </a:p>
          <a:p>
            <a:r>
              <a:rPr lang="en-US" dirty="0"/>
              <a:t>Creating a new Student table.</a:t>
            </a:r>
          </a:p>
          <a:p>
            <a:r>
              <a:rPr lang="en-US" dirty="0"/>
              <a:t>Adding new relationships.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593942" y="2156268"/>
            <a:ext cx="207554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Student</a:t>
            </a:r>
          </a:p>
          <a:p>
            <a:pPr algn="ctr"/>
            <a:r>
              <a:rPr lang="en-US" dirty="0"/>
              <a:t>---------</a:t>
            </a:r>
          </a:p>
          <a:p>
            <a:pPr algn="ctr"/>
            <a:r>
              <a:rPr lang="en-US" dirty="0"/>
              <a:t>ID</a:t>
            </a:r>
          </a:p>
          <a:p>
            <a:pPr algn="ctr"/>
            <a:r>
              <a:rPr lang="en-US" dirty="0"/>
              <a:t>Name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↓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Student</a:t>
            </a:r>
          </a:p>
          <a:p>
            <a:pPr algn="ctr"/>
            <a:r>
              <a:rPr lang="en-US" dirty="0"/>
              <a:t>---------</a:t>
            </a:r>
          </a:p>
          <a:p>
            <a:pPr algn="ctr"/>
            <a:r>
              <a:rPr lang="en-US" dirty="0"/>
              <a:t>ID</a:t>
            </a:r>
          </a:p>
          <a:p>
            <a:pPr algn="ctr"/>
            <a:r>
              <a:rPr lang="en-US" dirty="0"/>
              <a:t>Name</a:t>
            </a:r>
          </a:p>
          <a:p>
            <a:pPr algn="ctr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923718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Significance of 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257" y="1690688"/>
            <a:ext cx="6520543" cy="4351338"/>
          </a:xfrm>
        </p:spPr>
        <p:txBody>
          <a:bodyPr>
            <a:normAutofit/>
          </a:bodyPr>
          <a:lstStyle/>
          <a:p>
            <a:r>
              <a:rPr lang="en-US" b="1" dirty="0"/>
              <a:t>Importance of Data Independence</a:t>
            </a:r>
            <a:endParaRPr lang="en-US" dirty="0"/>
          </a:p>
          <a:p>
            <a:r>
              <a:rPr lang="en-US" dirty="0"/>
              <a:t>Reduces maintenance cost.</a:t>
            </a:r>
          </a:p>
          <a:p>
            <a:r>
              <a:rPr lang="en-US" dirty="0"/>
              <a:t>Improves database flexibility.</a:t>
            </a:r>
          </a:p>
          <a:p>
            <a:r>
              <a:rPr lang="en-US" dirty="0"/>
              <a:t>Supports future database growth.</a:t>
            </a:r>
          </a:p>
          <a:p>
            <a:r>
              <a:rPr lang="en-US" dirty="0"/>
              <a:t>Protects application programs from </a:t>
            </a:r>
          </a:p>
          <a:p>
            <a:r>
              <a:rPr lang="en-US" dirty="0"/>
              <a:t>changes.</a:t>
            </a:r>
          </a:p>
          <a:p>
            <a:r>
              <a:rPr lang="en-US" dirty="0"/>
              <a:t>Makes database management more efficient.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459637"/>
              </p:ext>
            </p:extLst>
          </p:nvPr>
        </p:nvGraphicFramePr>
        <p:xfrm>
          <a:off x="5892800" y="2075543"/>
          <a:ext cx="6197600" cy="2728685"/>
        </p:xfrm>
        <a:graphic>
          <a:graphicData uri="http://schemas.openxmlformats.org/drawingml/2006/table">
            <a:tbl>
              <a:tblPr/>
              <a:tblGrid>
                <a:gridCol w="309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737">
                <a:tc>
                  <a:txBody>
                    <a:bodyPr/>
                    <a:lstStyle/>
                    <a:p>
                      <a:r>
                        <a:rPr lang="en-US" dirty="0"/>
                        <a:t>Physical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737">
                <a:tc>
                  <a:txBody>
                    <a:bodyPr/>
                    <a:lstStyle/>
                    <a:p>
                      <a:r>
                        <a:rPr lang="en-US" dirty="0"/>
                        <a:t>Internal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Conceptual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737">
                <a:tc>
                  <a:txBody>
                    <a:bodyPr/>
                    <a:lstStyle/>
                    <a:p>
                      <a:r>
                        <a:rPr lang="en-US"/>
                        <a:t>Storage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Schema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737">
                <a:tc>
                  <a:txBody>
                    <a:bodyPr/>
                    <a:lstStyle/>
                    <a:p>
                      <a:r>
                        <a:rPr lang="en-US"/>
                        <a:t>Faster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More difficult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737">
                <a:tc>
                  <a:txBody>
                    <a:bodyPr/>
                    <a:lstStyle/>
                    <a:p>
                      <a:r>
                        <a:rPr lang="en-US"/>
                        <a:t>No application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user view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640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744" y="1774372"/>
            <a:ext cx="11912256" cy="3329581"/>
          </a:xfrm>
        </p:spPr>
        <p:txBody>
          <a:bodyPr>
            <a:noAutofit/>
          </a:bodyPr>
          <a:lstStyle/>
          <a:p>
            <a:r>
              <a:rPr lang="en-US" sz="4000" b="1" dirty="0"/>
              <a:t>Q4. Deliver a technical presentation on the software components of a DBMS, explaining Query Processor, Storage Manager, and Transaction Manager.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3431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Introduction to DBMS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914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Software Components of DBMS</a:t>
            </a:r>
            <a:endParaRPr lang="en-US" dirty="0"/>
          </a:p>
          <a:p>
            <a:r>
              <a:rPr lang="en-US" dirty="0"/>
              <a:t>DBMS consists of several software modules.</a:t>
            </a:r>
          </a:p>
          <a:p>
            <a:r>
              <a:rPr lang="en-US" dirty="0"/>
              <a:t>Each module performs a specific function.</a:t>
            </a:r>
          </a:p>
          <a:p>
            <a:r>
              <a:rPr lang="en-US" dirty="0"/>
              <a:t>Major components work together to process data.</a:t>
            </a:r>
          </a:p>
          <a:p>
            <a:r>
              <a:rPr lang="en-US" dirty="0"/>
              <a:t>They ensure efficient data management.</a:t>
            </a:r>
          </a:p>
          <a:p>
            <a:r>
              <a:rPr lang="en-US" dirty="0"/>
              <a:t>Three important components are Query Processor,</a:t>
            </a:r>
          </a:p>
          <a:p>
            <a:r>
              <a:rPr lang="en-US" dirty="0"/>
              <a:t> Storage Manager, and Transaction Manager.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9245600" y="2506998"/>
            <a:ext cx="2540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User</a:t>
            </a:r>
          </a:p>
          <a:p>
            <a:pPr algn="ctr"/>
            <a:r>
              <a:rPr lang="en-US" dirty="0"/>
              <a:t> │</a:t>
            </a:r>
          </a:p>
          <a:p>
            <a:pPr algn="ctr"/>
            <a:r>
              <a:rPr lang="en-US" dirty="0"/>
              <a:t>DBMS</a:t>
            </a:r>
          </a:p>
          <a:p>
            <a:pPr algn="ctr"/>
            <a:r>
              <a:rPr lang="en-US" dirty="0"/>
              <a:t> │</a:t>
            </a:r>
          </a:p>
          <a:p>
            <a:pPr algn="ctr"/>
            <a:r>
              <a:rPr lang="en-US" dirty="0"/>
              <a:t>-----------------------</a:t>
            </a:r>
          </a:p>
          <a:p>
            <a:pPr algn="ctr"/>
            <a:r>
              <a:rPr lang="en-US" dirty="0"/>
              <a:t>│      │        │</a:t>
            </a:r>
          </a:p>
          <a:p>
            <a:pPr algn="ctr"/>
            <a:r>
              <a:rPr lang="en-US" dirty="0"/>
              <a:t>QP     SM       TM</a:t>
            </a:r>
          </a:p>
        </p:txBody>
      </p:sp>
      <p:sp>
        <p:nvSpPr>
          <p:cNvPr id="5" name="Rectangle 4"/>
          <p:cNvSpPr/>
          <p:nvPr/>
        </p:nvSpPr>
        <p:spPr>
          <a:xfrm>
            <a:off x="8694057" y="4895978"/>
            <a:ext cx="30915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-apple-system-body"/>
              </a:rPr>
              <a:t>(QP = Query Processor, </a:t>
            </a:r>
          </a:p>
          <a:p>
            <a:r>
              <a:rPr lang="en-US" b="1" i="0" dirty="0">
                <a:effectLst/>
                <a:latin typeface="-apple-system-body"/>
              </a:rPr>
              <a:t>SM = Storage Manager,</a:t>
            </a:r>
          </a:p>
          <a:p>
            <a:r>
              <a:rPr lang="en-US" b="1" i="0" dirty="0">
                <a:effectLst/>
                <a:latin typeface="-apple-system-body"/>
              </a:rPr>
              <a:t> TM = Transaction Manager)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91153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Query 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228" y="181111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Accepts SQL queries from users.</a:t>
            </a:r>
          </a:p>
          <a:p>
            <a:r>
              <a:rPr lang="en-US" dirty="0"/>
              <a:t>Checks syntax and semantics.</a:t>
            </a:r>
          </a:p>
          <a:p>
            <a:r>
              <a:rPr lang="en-US" dirty="0"/>
              <a:t>Optimizes query execution.</a:t>
            </a:r>
          </a:p>
          <a:p>
            <a:r>
              <a:rPr lang="en-US" dirty="0"/>
              <a:t>Generates an execution plan.</a:t>
            </a:r>
          </a:p>
          <a:p>
            <a:r>
              <a:rPr lang="en-US" dirty="0"/>
              <a:t>Retrieves requested data efficiently.</a:t>
            </a:r>
          </a:p>
          <a:p>
            <a:r>
              <a:rPr lang="en-US" b="1" dirty="0"/>
              <a:t>Functions</a:t>
            </a:r>
          </a:p>
          <a:p>
            <a:r>
              <a:rPr lang="en-US" dirty="0"/>
              <a:t>SQL Parser</a:t>
            </a:r>
          </a:p>
          <a:p>
            <a:r>
              <a:rPr lang="en-US" dirty="0"/>
              <a:t>Query Optimizer</a:t>
            </a:r>
          </a:p>
          <a:p>
            <a:r>
              <a:rPr lang="en-US" dirty="0"/>
              <a:t>Execution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305800" y="2355281"/>
            <a:ext cx="202837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SQL Query</a:t>
            </a:r>
          </a:p>
          <a:p>
            <a:pPr algn="ctr"/>
            <a:r>
              <a:rPr lang="en-US" dirty="0"/>
              <a:t>     │</a:t>
            </a:r>
          </a:p>
          <a:p>
            <a:pPr algn="ctr"/>
            <a:r>
              <a:rPr lang="en-US" dirty="0"/>
              <a:t> Parser</a:t>
            </a:r>
          </a:p>
          <a:p>
            <a:pPr algn="ctr"/>
            <a:r>
              <a:rPr lang="en-US" dirty="0"/>
              <a:t>     │</a:t>
            </a:r>
          </a:p>
          <a:p>
            <a:pPr algn="ctr"/>
            <a:r>
              <a:rPr lang="en-US" dirty="0"/>
              <a:t>Optimizer</a:t>
            </a:r>
          </a:p>
          <a:p>
            <a:pPr algn="ctr"/>
            <a:r>
              <a:rPr lang="en-US" dirty="0"/>
              <a:t>     │</a:t>
            </a:r>
          </a:p>
          <a:p>
            <a:pPr algn="ctr"/>
            <a:r>
              <a:rPr lang="en-US" dirty="0"/>
              <a:t>Execution</a:t>
            </a:r>
          </a:p>
        </p:txBody>
      </p:sp>
    </p:spTree>
    <p:extLst>
      <p:ext uri="{BB962C8B-B14F-4D97-AF65-F5344CB8AC3E}">
        <p14:creationId xmlns:p14="http://schemas.microsoft.com/office/powerpoint/2010/main" val="160080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Storage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Manages physical storage of data.</a:t>
            </a:r>
          </a:p>
          <a:p>
            <a:r>
              <a:rPr lang="en-US" dirty="0"/>
              <a:t>Reads and writes data blocks.</a:t>
            </a:r>
          </a:p>
          <a:p>
            <a:r>
              <a:rPr lang="en-US" dirty="0"/>
              <a:t>Controls indexes and files.</a:t>
            </a:r>
          </a:p>
          <a:p>
            <a:r>
              <a:rPr lang="en-US" dirty="0"/>
              <a:t>Allocates disk space efficiently.</a:t>
            </a:r>
          </a:p>
          <a:p>
            <a:r>
              <a:rPr lang="en-US" dirty="0"/>
              <a:t>Ensures secure data storage.</a:t>
            </a:r>
          </a:p>
          <a:p>
            <a:r>
              <a:rPr lang="en-US" b="1" dirty="0"/>
              <a:t>Components</a:t>
            </a:r>
          </a:p>
          <a:p>
            <a:r>
              <a:rPr lang="en-US" dirty="0"/>
              <a:t>File Manager</a:t>
            </a:r>
          </a:p>
          <a:p>
            <a:r>
              <a:rPr lang="en-US" dirty="0"/>
              <a:t>Buffer Manager</a:t>
            </a:r>
          </a:p>
          <a:p>
            <a:r>
              <a:rPr lang="en-US" dirty="0"/>
              <a:t>Authorization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3371" y="2427853"/>
            <a:ext cx="285931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Mini Diagram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Database</a:t>
            </a:r>
          </a:p>
          <a:p>
            <a:pPr algn="ctr"/>
            <a:r>
              <a:rPr lang="en-US" dirty="0"/>
              <a:t>    │</a:t>
            </a:r>
          </a:p>
          <a:p>
            <a:pPr algn="ctr"/>
            <a:r>
              <a:rPr lang="en-US" dirty="0"/>
              <a:t>Storage Manager</a:t>
            </a:r>
          </a:p>
          <a:p>
            <a:pPr algn="ctr"/>
            <a:r>
              <a:rPr lang="en-US" dirty="0"/>
              <a:t> │      │</a:t>
            </a:r>
          </a:p>
          <a:p>
            <a:pPr algn="ctr"/>
            <a:r>
              <a:rPr lang="en-US" dirty="0"/>
              <a:t>Files Buffers</a:t>
            </a:r>
          </a:p>
        </p:txBody>
      </p:sp>
    </p:spTree>
    <p:extLst>
      <p:ext uri="{BB962C8B-B14F-4D97-AF65-F5344CB8AC3E}">
        <p14:creationId xmlns:p14="http://schemas.microsoft.com/office/powerpoint/2010/main" val="2788493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Transaction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Controls database transactions.</a:t>
            </a:r>
          </a:p>
          <a:p>
            <a:r>
              <a:rPr lang="en-US" dirty="0"/>
              <a:t>Ensures ACID properties.</a:t>
            </a:r>
          </a:p>
          <a:p>
            <a:r>
              <a:rPr lang="en-US" dirty="0"/>
              <a:t>Handles commit and rollback operations.</a:t>
            </a:r>
          </a:p>
          <a:p>
            <a:r>
              <a:rPr lang="en-US" dirty="0"/>
              <a:t>Maintains data consistency.</a:t>
            </a:r>
          </a:p>
          <a:p>
            <a:r>
              <a:rPr lang="en-US" dirty="0"/>
              <a:t>Supports concurrent user access.</a:t>
            </a:r>
          </a:p>
          <a:p>
            <a:r>
              <a:rPr lang="en-US" b="1" dirty="0"/>
              <a:t>ACID Properties</a:t>
            </a:r>
          </a:p>
          <a:p>
            <a:r>
              <a:rPr lang="en-US" dirty="0"/>
              <a:t>Atomicity</a:t>
            </a:r>
          </a:p>
          <a:p>
            <a:r>
              <a:rPr lang="en-US" dirty="0"/>
              <a:t>Consistency</a:t>
            </a:r>
          </a:p>
          <a:p>
            <a:r>
              <a:rPr lang="en-US" dirty="0"/>
              <a:t>Isolation</a:t>
            </a:r>
          </a:p>
          <a:p>
            <a:r>
              <a:rPr lang="en-US" dirty="0"/>
              <a:t>Durability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432801" y="2136339"/>
            <a:ext cx="338182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Start</a:t>
            </a:r>
          </a:p>
          <a:p>
            <a:pPr algn="ctr"/>
            <a:r>
              <a:rPr lang="en-US" dirty="0"/>
              <a:t>   │</a:t>
            </a:r>
          </a:p>
          <a:p>
            <a:pPr algn="ctr"/>
            <a:r>
              <a:rPr lang="en-US" dirty="0"/>
              <a:t>Transaction</a:t>
            </a:r>
          </a:p>
          <a:p>
            <a:pPr algn="ctr"/>
            <a:r>
              <a:rPr lang="en-US" dirty="0"/>
              <a:t>   │</a:t>
            </a:r>
          </a:p>
          <a:p>
            <a:pPr algn="ctr"/>
            <a:r>
              <a:rPr lang="en-US" dirty="0"/>
              <a:t>Success?</a:t>
            </a:r>
          </a:p>
          <a:p>
            <a:pPr algn="ctr"/>
            <a:r>
              <a:rPr lang="en-US" dirty="0"/>
              <a:t> │      │</a:t>
            </a:r>
          </a:p>
          <a:p>
            <a:pPr algn="ctr"/>
            <a:r>
              <a:rPr lang="en-US" dirty="0"/>
              <a:t>Yes    No</a:t>
            </a:r>
          </a:p>
          <a:p>
            <a:pPr algn="ctr"/>
            <a:r>
              <a:rPr lang="en-US" dirty="0"/>
              <a:t> │       │</a:t>
            </a:r>
          </a:p>
          <a:p>
            <a:pPr algn="ctr"/>
            <a:r>
              <a:rPr lang="en-US" dirty="0"/>
              <a:t>Commit Rollback</a:t>
            </a:r>
          </a:p>
        </p:txBody>
      </p:sp>
    </p:spTree>
    <p:extLst>
      <p:ext uri="{BB962C8B-B14F-4D97-AF65-F5344CB8AC3E}">
        <p14:creationId xmlns:p14="http://schemas.microsoft.com/office/powerpoint/2010/main" val="1789252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1811" y="1121229"/>
            <a:ext cx="11137195" cy="3329581"/>
          </a:xfrm>
        </p:spPr>
        <p:txBody>
          <a:bodyPr>
            <a:normAutofit/>
          </a:bodyPr>
          <a:lstStyle/>
          <a:p>
            <a:r>
              <a:rPr lang="en-US" sz="4400" b="1" dirty="0"/>
              <a:t>Q5. Prepare a presentation comparing strong and weak entities in ER modeling with real-world examples.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4295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Introduction to Strong and Weak Entities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229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 </a:t>
            </a:r>
          </a:p>
          <a:p>
            <a:r>
              <a:rPr lang="en-US" b="1" dirty="0"/>
              <a:t>Strong and Weak Entities in ER Modeling</a:t>
            </a:r>
            <a:endParaRPr lang="en-US" dirty="0"/>
          </a:p>
          <a:p>
            <a:r>
              <a:rPr lang="en-US" dirty="0"/>
              <a:t>An </a:t>
            </a:r>
            <a:r>
              <a:rPr lang="en-US" b="1" dirty="0"/>
              <a:t>Entity</a:t>
            </a:r>
            <a:r>
              <a:rPr lang="en-US" dirty="0"/>
              <a:t> represents a real-world object in a database.</a:t>
            </a:r>
          </a:p>
          <a:p>
            <a:r>
              <a:rPr lang="en-US" dirty="0"/>
              <a:t>Entities are classified into </a:t>
            </a:r>
            <a:r>
              <a:rPr lang="en-US" b="1" dirty="0"/>
              <a:t>Strong</a:t>
            </a:r>
            <a:r>
              <a:rPr lang="en-US" dirty="0"/>
              <a:t> and </a:t>
            </a:r>
            <a:r>
              <a:rPr lang="en-US" b="1" dirty="0"/>
              <a:t>Weak</a:t>
            </a:r>
            <a:r>
              <a:rPr lang="en-US" dirty="0"/>
              <a:t> entities.</a:t>
            </a:r>
          </a:p>
          <a:p>
            <a:r>
              <a:rPr lang="en-US" dirty="0"/>
              <a:t>Strong entities have their own primary key.</a:t>
            </a:r>
          </a:p>
          <a:p>
            <a:r>
              <a:rPr lang="en-US" dirty="0"/>
              <a:t>Weak entities depend on strong entities for identification.</a:t>
            </a:r>
          </a:p>
          <a:p>
            <a:r>
              <a:rPr lang="en-US" dirty="0"/>
              <a:t>ER diagrams use different symbols to represent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87543" y="2872309"/>
            <a:ext cx="28339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 ENTITY</a:t>
            </a:r>
          </a:p>
          <a:p>
            <a:pPr algn="ctr"/>
            <a:r>
              <a:rPr lang="en-US" dirty="0"/>
              <a:t>              │</a:t>
            </a:r>
          </a:p>
          <a:p>
            <a:pPr algn="ctr"/>
            <a:r>
              <a:rPr lang="en-US" dirty="0"/>
              <a:t>      ┌───────┴────────┐</a:t>
            </a:r>
          </a:p>
          <a:p>
            <a:pPr algn="ctr"/>
            <a:r>
              <a:rPr lang="en-US" dirty="0"/>
              <a:t>      │                │</a:t>
            </a:r>
          </a:p>
          <a:p>
            <a:pPr algn="ctr"/>
            <a:r>
              <a:rPr lang="en-US" dirty="0"/>
              <a:t>Strong Entity     Weak Entity</a:t>
            </a:r>
          </a:p>
        </p:txBody>
      </p:sp>
    </p:spTree>
    <p:extLst>
      <p:ext uri="{BB962C8B-B14F-4D97-AF65-F5344CB8AC3E}">
        <p14:creationId xmlns:p14="http://schemas.microsoft.com/office/powerpoint/2010/main" val="3969148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/>
              <a:t>Strong</a:t>
            </a:r>
            <a:r>
              <a:rPr lang="en-US" b="1" dirty="0"/>
              <a:t> </a:t>
            </a:r>
            <a:r>
              <a:rPr lang="en-US" sz="4000" b="1" dirty="0"/>
              <a:t>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914" y="1883682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Has its own </a:t>
            </a:r>
            <a:r>
              <a:rPr lang="en-US" b="1" dirty="0"/>
              <a:t>Primary Key</a:t>
            </a:r>
            <a:r>
              <a:rPr lang="en-US" dirty="0"/>
              <a:t>.</a:t>
            </a:r>
          </a:p>
          <a:p>
            <a:r>
              <a:rPr lang="en-US" dirty="0"/>
              <a:t>Exists independently in the database.</a:t>
            </a:r>
          </a:p>
          <a:p>
            <a:r>
              <a:rPr lang="en-US" dirty="0"/>
              <a:t>Can be uniquely identified.</a:t>
            </a:r>
          </a:p>
          <a:p>
            <a:r>
              <a:rPr lang="en-US" dirty="0"/>
              <a:t>Represented by a </a:t>
            </a:r>
            <a:r>
              <a:rPr lang="en-US" b="1" dirty="0"/>
              <a:t>single rectangle</a:t>
            </a:r>
            <a:r>
              <a:rPr lang="en-US" dirty="0"/>
              <a:t> in ER diagrams.</a:t>
            </a:r>
          </a:p>
          <a:p>
            <a:r>
              <a:rPr lang="en-US" dirty="0"/>
              <a:t>Used as the parent entity in relationships.</a:t>
            </a:r>
          </a:p>
          <a:p>
            <a:r>
              <a:rPr lang="en-US" b="1" dirty="0"/>
              <a:t>Examples</a:t>
            </a:r>
          </a:p>
          <a:p>
            <a:r>
              <a:rPr lang="en-US" dirty="0"/>
              <a:t>Student</a:t>
            </a:r>
          </a:p>
          <a:p>
            <a:r>
              <a:rPr lang="en-US" dirty="0"/>
              <a:t>Employee</a:t>
            </a:r>
          </a:p>
          <a:p>
            <a:r>
              <a:rPr lang="en-US" dirty="0"/>
              <a:t>Customer</a:t>
            </a:r>
          </a:p>
          <a:p>
            <a:r>
              <a:rPr lang="en-US" dirty="0"/>
              <a:t>Product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8886371" y="2406695"/>
            <a:ext cx="28121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 STUDENT</a:t>
            </a:r>
          </a:p>
          <a:p>
            <a:pPr algn="ctr"/>
            <a:r>
              <a:rPr lang="en-US" dirty="0"/>
              <a:t>      ┌───────────┐</a:t>
            </a:r>
          </a:p>
          <a:p>
            <a:pPr algn="ctr"/>
            <a:r>
              <a:rPr lang="en-US" dirty="0"/>
              <a:t>      │ Student   │</a:t>
            </a:r>
          </a:p>
          <a:p>
            <a:pPr algn="ctr"/>
            <a:r>
              <a:rPr lang="en-US" dirty="0"/>
              <a:t>      └───────────┘</a:t>
            </a:r>
          </a:p>
          <a:p>
            <a:pPr algn="ctr"/>
            <a:r>
              <a:rPr lang="en-US" dirty="0"/>
              <a:t>      /     |      \</a:t>
            </a:r>
          </a:p>
          <a:p>
            <a:pPr algn="ctr"/>
            <a:r>
              <a:rPr lang="en-US" dirty="0" err="1"/>
              <a:t>Student_ID</a:t>
            </a:r>
            <a:r>
              <a:rPr lang="en-US" dirty="0"/>
              <a:t> Name   Email</a:t>
            </a:r>
          </a:p>
        </p:txBody>
      </p:sp>
    </p:spTree>
    <p:extLst>
      <p:ext uri="{BB962C8B-B14F-4D97-AF65-F5344CB8AC3E}">
        <p14:creationId xmlns:p14="http://schemas.microsoft.com/office/powerpoint/2010/main" val="4004190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Weak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229" y="1535339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Does </a:t>
            </a:r>
            <a:r>
              <a:rPr lang="en-US" b="1" dirty="0"/>
              <a:t>not</a:t>
            </a:r>
            <a:r>
              <a:rPr lang="en-US" dirty="0"/>
              <a:t> have a complete primary key.</a:t>
            </a:r>
          </a:p>
          <a:p>
            <a:r>
              <a:rPr lang="en-US" dirty="0"/>
              <a:t>Depends on a strong entity for identification.</a:t>
            </a:r>
          </a:p>
          <a:p>
            <a:r>
              <a:rPr lang="en-US" dirty="0"/>
              <a:t>Uses a </a:t>
            </a:r>
            <a:r>
              <a:rPr lang="en-US" b="1" dirty="0"/>
              <a:t>partial key (discriminator)</a:t>
            </a:r>
            <a:r>
              <a:rPr lang="en-US" dirty="0"/>
              <a:t>.</a:t>
            </a:r>
          </a:p>
          <a:p>
            <a:r>
              <a:rPr lang="en-US" dirty="0"/>
              <a:t>Represented by a </a:t>
            </a:r>
            <a:r>
              <a:rPr lang="en-US" b="1" dirty="0"/>
              <a:t>double rectangle</a:t>
            </a:r>
            <a:r>
              <a:rPr lang="en-US" dirty="0"/>
              <a:t>.</a:t>
            </a:r>
          </a:p>
          <a:p>
            <a:r>
              <a:rPr lang="en-US" dirty="0"/>
              <a:t>Connected through an </a:t>
            </a:r>
            <a:r>
              <a:rPr lang="en-US" b="1" dirty="0"/>
              <a:t>identifying relationship</a:t>
            </a:r>
            <a:r>
              <a:rPr lang="en-US" dirty="0"/>
              <a:t>.</a:t>
            </a:r>
          </a:p>
          <a:p>
            <a:r>
              <a:rPr lang="en-US" b="1" dirty="0"/>
              <a:t>Real-World Example</a:t>
            </a:r>
          </a:p>
          <a:p>
            <a:r>
              <a:rPr lang="en-US" dirty="0"/>
              <a:t>Employee → Dependent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58628" y="2252454"/>
            <a:ext cx="342537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┌────────────┐</a:t>
            </a:r>
          </a:p>
          <a:p>
            <a:pPr algn="ctr"/>
            <a:r>
              <a:rPr lang="en-US" dirty="0"/>
              <a:t>│ EMPLOYEE   │</a:t>
            </a:r>
          </a:p>
          <a:p>
            <a:pPr algn="ctr"/>
            <a:r>
              <a:rPr lang="en-US" dirty="0"/>
              <a:t>└────────────┘</a:t>
            </a:r>
          </a:p>
          <a:p>
            <a:pPr algn="ctr"/>
            <a:r>
              <a:rPr lang="en-US" dirty="0"/>
              <a:t>      │</a:t>
            </a:r>
          </a:p>
          <a:p>
            <a:pPr algn="ctr"/>
            <a:r>
              <a:rPr lang="en-US" dirty="0"/>
              <a:t> Identifies</a:t>
            </a:r>
          </a:p>
          <a:p>
            <a:pPr algn="ctr"/>
            <a:r>
              <a:rPr lang="en-US" dirty="0"/>
              <a:t>      │</a:t>
            </a:r>
          </a:p>
          <a:p>
            <a:pPr algn="ctr"/>
            <a:r>
              <a:rPr lang="en-US" dirty="0"/>
              <a:t>╔════════════╗</a:t>
            </a:r>
          </a:p>
          <a:p>
            <a:pPr algn="ctr"/>
            <a:r>
              <a:rPr lang="en-US" dirty="0"/>
              <a:t>║ DEPENDENT  ║</a:t>
            </a:r>
          </a:p>
          <a:p>
            <a:pPr algn="ctr"/>
            <a:r>
              <a:rPr lang="en-US" dirty="0"/>
              <a:t>╚════════════╝</a:t>
            </a:r>
          </a:p>
        </p:txBody>
      </p:sp>
      <p:sp>
        <p:nvSpPr>
          <p:cNvPr id="5" name="Rectangle 4"/>
          <p:cNvSpPr/>
          <p:nvPr/>
        </p:nvSpPr>
        <p:spPr>
          <a:xfrm>
            <a:off x="4673599" y="4518301"/>
            <a:ext cx="4122058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-apple-system-body"/>
              </a:rPr>
              <a:t>Dependent Attributes</a:t>
            </a:r>
            <a:r>
              <a:rPr lang="en-US" b="0" i="0" dirty="0">
                <a:effectLst/>
                <a:latin typeface="-apple-system-body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 err="1">
                <a:effectLst/>
                <a:latin typeface="-apple-system-body"/>
              </a:rPr>
              <a:t>Dependent_Name</a:t>
            </a:r>
            <a:endParaRPr lang="en-US" sz="1900" b="0" i="0" dirty="0">
              <a:effectLst/>
              <a:latin typeface="-apple-system-body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-apple-system-body"/>
              </a:rPr>
              <a:t>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 dirty="0">
                <a:effectLst/>
                <a:latin typeface="-apple-system-body"/>
              </a:rPr>
              <a:t>Relationship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89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of Strong and Weak Entities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479906"/>
              </p:ext>
            </p:extLst>
          </p:nvPr>
        </p:nvGraphicFramePr>
        <p:xfrm>
          <a:off x="1099458" y="1946071"/>
          <a:ext cx="9495972" cy="3917700"/>
        </p:xfrm>
        <a:graphic>
          <a:graphicData uri="http://schemas.openxmlformats.org/drawingml/2006/table">
            <a:tbl>
              <a:tblPr/>
              <a:tblGrid>
                <a:gridCol w="4747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7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2950">
                <a:tc>
                  <a:txBody>
                    <a:bodyPr/>
                    <a:lstStyle/>
                    <a:p>
                      <a:r>
                        <a:rPr lang="en-US" dirty="0"/>
                        <a:t>Strong 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 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950">
                <a:tc>
                  <a:txBody>
                    <a:bodyPr/>
                    <a:lstStyle/>
                    <a:p>
                      <a:r>
                        <a:rPr lang="en-US" dirty="0"/>
                        <a:t>Has Primary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Primary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950">
                <a:tc>
                  <a:txBody>
                    <a:bodyPr/>
                    <a:lstStyle/>
                    <a:p>
                      <a:r>
                        <a:rPr lang="en-US" dirty="0"/>
                        <a:t>Independent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Depends on Strong Entity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950">
                <a:tc>
                  <a:txBody>
                    <a:bodyPr/>
                    <a:lstStyle/>
                    <a:p>
                      <a:r>
                        <a:rPr lang="en-US" dirty="0"/>
                        <a:t>Single Rectangle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 Rectangle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950">
                <a:tc>
                  <a:txBody>
                    <a:bodyPr/>
                    <a:lstStyle/>
                    <a:p>
                      <a:r>
                        <a:rPr lang="en-US"/>
                        <a:t>Exists Alone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Cannot Exist Alone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950">
                <a:tc>
                  <a:txBody>
                    <a:bodyPr/>
                    <a:lstStyle/>
                    <a:p>
                      <a:r>
                        <a:rPr lang="en-US"/>
                        <a:t>Example: 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Example: Dependent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195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971" y="1027906"/>
            <a:ext cx="7235371" cy="4351338"/>
          </a:xfrm>
        </p:spPr>
        <p:txBody>
          <a:bodyPr/>
          <a:lstStyle/>
          <a:p>
            <a:r>
              <a:rPr lang="en-US" b="1" dirty="0"/>
              <a:t>Key Points</a:t>
            </a:r>
          </a:p>
          <a:p>
            <a:r>
              <a:rPr lang="en-US" dirty="0"/>
              <a:t>Strong entities uniquely identify records.</a:t>
            </a:r>
          </a:p>
          <a:p>
            <a:r>
              <a:rPr lang="en-US" dirty="0"/>
              <a:t>Weak entities rely on owner entities.</a:t>
            </a:r>
          </a:p>
          <a:p>
            <a:r>
              <a:rPr lang="en-US" dirty="0"/>
              <a:t>Both improve accurate database modeling.</a:t>
            </a:r>
          </a:p>
          <a:p>
            <a:r>
              <a:rPr lang="en-US" dirty="0"/>
              <a:t>ER diagrams clearly distinguish both </a:t>
            </a:r>
          </a:p>
          <a:p>
            <a:r>
              <a:rPr lang="en-US" dirty="0"/>
              <a:t>entity types.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49028" y="894432"/>
            <a:ext cx="420914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 EMPLOYEE</a:t>
            </a:r>
          </a:p>
          <a:p>
            <a:pPr algn="ctr"/>
            <a:r>
              <a:rPr lang="en-US" dirty="0"/>
              <a:t>        ┌───────────┐</a:t>
            </a:r>
          </a:p>
          <a:p>
            <a:pPr algn="ctr"/>
            <a:r>
              <a:rPr lang="en-US" dirty="0"/>
              <a:t>        │</a:t>
            </a:r>
            <a:r>
              <a:rPr lang="en-US" dirty="0" err="1"/>
              <a:t>Employee_ID</a:t>
            </a:r>
            <a:r>
              <a:rPr lang="en-US" dirty="0"/>
              <a:t>│</a:t>
            </a:r>
          </a:p>
          <a:p>
            <a:pPr algn="ctr"/>
            <a:r>
              <a:rPr lang="en-US" dirty="0"/>
              <a:t>        └───────────┘</a:t>
            </a:r>
          </a:p>
          <a:p>
            <a:pPr algn="ctr"/>
            <a:r>
              <a:rPr lang="en-US" dirty="0"/>
              <a:t>               │</a:t>
            </a:r>
          </a:p>
          <a:p>
            <a:pPr algn="ctr"/>
            <a:r>
              <a:rPr lang="en-US" dirty="0"/>
              <a:t>      Identifying Relationship</a:t>
            </a:r>
          </a:p>
          <a:p>
            <a:pPr algn="ctr"/>
            <a:r>
              <a:rPr lang="en-US" dirty="0"/>
              <a:t>               │</a:t>
            </a:r>
          </a:p>
          <a:p>
            <a:pPr algn="ctr"/>
            <a:r>
              <a:rPr lang="en-US" dirty="0"/>
              <a:t>      ╔════════════════╗</a:t>
            </a:r>
          </a:p>
          <a:p>
            <a:pPr algn="ctr"/>
            <a:r>
              <a:rPr lang="en-US" dirty="0"/>
              <a:t>      ║  DEPENDENT     ║</a:t>
            </a:r>
          </a:p>
          <a:p>
            <a:pPr algn="ctr"/>
            <a:r>
              <a:rPr lang="en-US" dirty="0"/>
              <a:t>      ╚════════════════╝</a:t>
            </a:r>
          </a:p>
          <a:p>
            <a:pPr algn="ctr"/>
            <a:r>
              <a:rPr lang="en-US" dirty="0"/>
              <a:t>               │</a:t>
            </a:r>
          </a:p>
          <a:p>
            <a:pPr algn="ctr"/>
            <a:r>
              <a:rPr lang="en-US" dirty="0"/>
              <a:t>      </a:t>
            </a:r>
            <a:r>
              <a:rPr lang="en-US" dirty="0" err="1"/>
              <a:t>Dependent_Name</a:t>
            </a:r>
            <a:endParaRPr lang="en-US" dirty="0"/>
          </a:p>
          <a:p>
            <a:pPr algn="ctr"/>
            <a:r>
              <a:rPr lang="en-US" dirty="0"/>
              <a:t>            Age</a:t>
            </a:r>
          </a:p>
          <a:p>
            <a:pPr algn="ctr"/>
            <a:r>
              <a:rPr lang="en-US" dirty="0"/>
              <a:t>      Relationship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371" y="4927366"/>
            <a:ext cx="88754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-apple-system-body"/>
              </a:rPr>
              <a:t>Conclusion</a:t>
            </a:r>
          </a:p>
          <a:p>
            <a:r>
              <a:rPr lang="en-US" b="0" i="0" dirty="0">
                <a:effectLst/>
                <a:latin typeface="-apple-system-body"/>
              </a:rPr>
              <a:t>Strong entities can exist independently because they have a primary key, whereas weak entities depend on strong entities for identification. Together, they help create accurate and efficient ER models for real-world database systems.</a:t>
            </a:r>
          </a:p>
        </p:txBody>
      </p:sp>
    </p:spTree>
    <p:extLst>
      <p:ext uri="{BB962C8B-B14F-4D97-AF65-F5344CB8AC3E}">
        <p14:creationId xmlns:p14="http://schemas.microsoft.com/office/powerpoint/2010/main" val="1289455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7024" y="2599509"/>
            <a:ext cx="8825658" cy="1328787"/>
          </a:xfrm>
        </p:spPr>
        <p:txBody>
          <a:bodyPr/>
          <a:lstStyle/>
          <a:p>
            <a:pPr algn="ctr"/>
            <a:r>
              <a:rPr lang="en-US" sz="8000" b="1" dirty="0"/>
              <a:t>THANK YOU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2517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</TotalTime>
  <Words>1369</Words>
  <Application>Microsoft Office PowerPoint</Application>
  <PresentationFormat>Widescreen</PresentationFormat>
  <Paragraphs>344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-apple-system-body</vt:lpstr>
      <vt:lpstr>Aptos</vt:lpstr>
      <vt:lpstr>Aptos Display</vt:lpstr>
      <vt:lpstr>Arial</vt:lpstr>
      <vt:lpstr>Office Theme</vt:lpstr>
      <vt:lpstr>CSA0504- DATABASE MANAGEMENT SYSTEM  TECHNICAL  PRESENTATION</vt:lpstr>
      <vt:lpstr>1) Create and present an ER diagram for an Online Library System, explaining each component clearly.  </vt:lpstr>
      <vt:lpstr>Introduction to Online Library System</vt:lpstr>
      <vt:lpstr>Entities and Attributes</vt:lpstr>
      <vt:lpstr>Relationships in ER Diagram</vt:lpstr>
      <vt:lpstr>Advantages and Complete ER Diagram</vt:lpstr>
      <vt:lpstr>Q2. Prepare a presentation on the EER model, demonstrating generalization and specialization with a University case study.</vt:lpstr>
      <vt:lpstr>Introduction to EER Model</vt:lpstr>
      <vt:lpstr>Generalization</vt:lpstr>
      <vt:lpstr>Specialization</vt:lpstr>
      <vt:lpstr>Advantages and University Case Study</vt:lpstr>
      <vt:lpstr>Q3. Present the concept of data independence (logical and physical) and its significance in DBMS architecture.</vt:lpstr>
      <vt:lpstr>Introduction to Data Independence</vt:lpstr>
      <vt:lpstr>Physical Data Independence</vt:lpstr>
      <vt:lpstr>Logical Data Independence</vt:lpstr>
      <vt:lpstr>Significance of Data Independence</vt:lpstr>
      <vt:lpstr>Q4. Deliver a technical presentation on the software components of a DBMS, explaining Query Processor, Storage Manager, and Transaction Manager. </vt:lpstr>
      <vt:lpstr>Introduction to DBMS Components</vt:lpstr>
      <vt:lpstr>Query Processor</vt:lpstr>
      <vt:lpstr>Storage Manager</vt:lpstr>
      <vt:lpstr>Transaction Manager</vt:lpstr>
      <vt:lpstr>Q5. Prepare a presentation comparing strong and weak entities in ER modeling with real-world examples.</vt:lpstr>
      <vt:lpstr>Introduction to Strong and Weak Entities</vt:lpstr>
      <vt:lpstr>Strong Entity</vt:lpstr>
      <vt:lpstr>Weak Entity</vt:lpstr>
      <vt:lpstr>Comparison of Strong and Weak Entities</vt:lpstr>
      <vt:lpstr>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1) Create and present an ER diagram for an Online Library System, explaining each component clearly.</dc:title>
  <dc:creator>DeLL</dc:creator>
  <cp:lastModifiedBy>Panati Shashank</cp:lastModifiedBy>
  <cp:revision>21</cp:revision>
  <dcterms:created xsi:type="dcterms:W3CDTF">2026-07-18T16:23:17Z</dcterms:created>
  <dcterms:modified xsi:type="dcterms:W3CDTF">2026-07-23T05:42:29Z</dcterms:modified>
</cp:coreProperties>
</file>